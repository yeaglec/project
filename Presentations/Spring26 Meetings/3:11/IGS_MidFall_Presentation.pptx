
<file path=[Content_Types].xml><?xml version="1.0" encoding="utf-8"?>
<Types xmlns="http://schemas.openxmlformats.org/package/2006/content-types">
  <Default Extension="emf" ContentType="image/x-em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 id="2147483674" r:id="rId2"/>
  </p:sldMasterIdLst>
  <p:notesMasterIdLst>
    <p:notesMasterId r:id="rId30"/>
  </p:notesMasterIdLst>
  <p:sldIdLst>
    <p:sldId id="3588" r:id="rId3"/>
    <p:sldId id="3589" r:id="rId4"/>
    <p:sldId id="3596" r:id="rId5"/>
    <p:sldId id="3621" r:id="rId6"/>
    <p:sldId id="3647" r:id="rId7"/>
    <p:sldId id="3651" r:id="rId8"/>
    <p:sldId id="3648" r:id="rId9"/>
    <p:sldId id="3650" r:id="rId10"/>
    <p:sldId id="3644" r:id="rId11"/>
    <p:sldId id="3627" r:id="rId12"/>
    <p:sldId id="3592" r:id="rId13"/>
    <p:sldId id="3623" r:id="rId14"/>
    <p:sldId id="3629" r:id="rId15"/>
    <p:sldId id="3625" r:id="rId16"/>
    <p:sldId id="3631" r:id="rId17"/>
    <p:sldId id="3633" r:id="rId18"/>
    <p:sldId id="3637" r:id="rId19"/>
    <p:sldId id="3634" r:id="rId20"/>
    <p:sldId id="3636" r:id="rId21"/>
    <p:sldId id="3626" r:id="rId22"/>
    <p:sldId id="3594" r:id="rId23"/>
    <p:sldId id="3602" r:id="rId24"/>
    <p:sldId id="3597" r:id="rId25"/>
    <p:sldId id="3622" r:id="rId26"/>
    <p:sldId id="3638" r:id="rId27"/>
    <p:sldId id="3590" r:id="rId28"/>
    <p:sldId id="3591" r:id="rId2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556" autoAdjust="0"/>
    <p:restoredTop sz="74698" autoAdjust="0"/>
  </p:normalViewPr>
  <p:slideViewPr>
    <p:cSldViewPr snapToGrid="0">
      <p:cViewPr varScale="1">
        <p:scale>
          <a:sx n="118" d="100"/>
          <a:sy n="118" d="100"/>
        </p:scale>
        <p:origin x="2736"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297E26-78EB-8B41-8DC9-A0EBC93E0939}" type="datetimeFigureOut">
              <a:rPr lang="en-US" smtClean="0"/>
              <a:t>3/19/26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144238-4DD6-0C4F-824F-F66E32D856F9}" type="slidenum">
              <a:rPr lang="en-US" smtClean="0"/>
              <a:t>‹#›</a:t>
            </a:fld>
            <a:endParaRPr lang="en-US"/>
          </a:p>
        </p:txBody>
      </p:sp>
    </p:spTree>
    <p:extLst>
      <p:ext uri="{BB962C8B-B14F-4D97-AF65-F5344CB8AC3E}">
        <p14:creationId xmlns:p14="http://schemas.microsoft.com/office/powerpoint/2010/main" val="20417052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A460FFB-2BFB-0142-99F5-9D8A966BF058}" type="slidenum">
              <a:rPr lang="en-US" smtClean="0"/>
              <a:t>1</a:t>
            </a:fld>
            <a:endParaRPr lang="en-US"/>
          </a:p>
        </p:txBody>
      </p:sp>
    </p:spTree>
    <p:extLst>
      <p:ext uri="{BB962C8B-B14F-4D97-AF65-F5344CB8AC3E}">
        <p14:creationId xmlns:p14="http://schemas.microsoft.com/office/powerpoint/2010/main" val="17068543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7CA8A2-5A19-AB9B-4359-9B39D58A86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0686DC-95FA-4E41-4314-816D329D5C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67B4D6-5C58-FF4C-8295-D63DCF227D3F}"/>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Before developing into PDAC, the pancreatic ducts evolve into precancerous lesions (most commonly </a:t>
            </a:r>
            <a:r>
              <a:rPr lang="en-US" sz="1200" b="0" i="0" kern="1200" dirty="0" err="1">
                <a:solidFill>
                  <a:schemeClr val="tx1"/>
                </a:solidFill>
                <a:effectLst/>
                <a:latin typeface="+mn-lt"/>
                <a:ea typeface="+mn-ea"/>
                <a:cs typeface="+mn-cs"/>
              </a:rPr>
              <a:t>PanINs</a:t>
            </a:r>
            <a:r>
              <a:rPr lang="en-US" sz="1200" b="0" i="0" kern="1200" dirty="0">
                <a:solidFill>
                  <a:schemeClr val="tx1"/>
                </a:solidFill>
                <a:effectLst/>
                <a:latin typeface="+mn-lt"/>
                <a:ea typeface="+mn-ea"/>
                <a:cs typeface="+mn-cs"/>
              </a:rPr>
              <a:t>). In principle, detecting these lesions early allows for the opportunity for therapeutic intervention. However, these lesions common in the aging pancreas, with only a small subset progressing into PDAC. Hence, understanding the specific alterations in the precancer development is important (this could be better).</a:t>
            </a:r>
          </a:p>
          <a:p>
            <a:endParaRPr lang="en-US" sz="1200" b="0" i="0" kern="1200" dirty="0">
              <a:solidFill>
                <a:schemeClr val="tx1"/>
              </a:solidFill>
              <a:effectLst/>
              <a:latin typeface="+mn-lt"/>
              <a:ea typeface="+mn-ea"/>
              <a:cs typeface="+mn-cs"/>
            </a:endParaRPr>
          </a:p>
          <a:p>
            <a:r>
              <a:rPr lang="en-US" dirty="0"/>
              <a:t>In </a:t>
            </a:r>
            <a:r>
              <a:rPr lang="en-US" dirty="0" err="1"/>
              <a:t>PanINs</a:t>
            </a:r>
            <a:r>
              <a:rPr lang="en-US" dirty="0"/>
              <a:t>, ductal epithelial cells undergo unregulated proliferation, forming papillary like structures lumen of the duct.</a:t>
            </a:r>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So for this project, the question we wanted ask was can we model this evolution of the pancreatic ducts prior to it’s develop into PDAC. This would allow us to better understand </a:t>
            </a:r>
            <a:r>
              <a:rPr lang="en-US" dirty="0"/>
              <a:t>which lesions or cellular environments promote the progression to cancer.</a:t>
            </a:r>
          </a:p>
        </p:txBody>
      </p:sp>
      <p:sp>
        <p:nvSpPr>
          <p:cNvPr id="4" name="Slide Number Placeholder 3">
            <a:extLst>
              <a:ext uri="{FF2B5EF4-FFF2-40B4-BE49-F238E27FC236}">
                <a16:creationId xmlns:a16="http://schemas.microsoft.com/office/drawing/2014/main" id="{4120F851-1DE6-1F66-4E99-9027388360AB}"/>
              </a:ext>
            </a:extLst>
          </p:cNvPr>
          <p:cNvSpPr>
            <a:spLocks noGrp="1"/>
          </p:cNvSpPr>
          <p:nvPr>
            <p:ph type="sldNum" sz="quarter" idx="5"/>
          </p:nvPr>
        </p:nvSpPr>
        <p:spPr/>
        <p:txBody>
          <a:bodyPr/>
          <a:lstStyle/>
          <a:p>
            <a:fld id="{B314B106-72D9-394B-AE7F-13630EA62899}" type="slidenum">
              <a:rPr lang="en-US" smtClean="0"/>
              <a:t>2</a:t>
            </a:fld>
            <a:endParaRPr lang="en-US"/>
          </a:p>
        </p:txBody>
      </p:sp>
    </p:spTree>
    <p:extLst>
      <p:ext uri="{BB962C8B-B14F-4D97-AF65-F5344CB8AC3E}">
        <p14:creationId xmlns:p14="http://schemas.microsoft.com/office/powerpoint/2010/main" val="20174883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178E97-E5CD-4A45-6A44-1908136110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AAAAF5-81D6-AACA-207C-3DDEE5596D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A06632-649E-6841-C89C-0AA2FC3C0943}"/>
              </a:ext>
            </a:extLst>
          </p:cNvPr>
          <p:cNvSpPr>
            <a:spLocks noGrp="1"/>
          </p:cNvSpPr>
          <p:nvPr>
            <p:ph type="body" idx="1"/>
          </p:nvPr>
        </p:nvSpPr>
        <p:spPr/>
        <p:txBody>
          <a:bodyPr/>
          <a:lstStyle/>
          <a:p>
            <a:endParaRPr lang="en-US" dirty="0"/>
          </a:p>
          <a:p>
            <a:endParaRPr lang="en-US" dirty="0"/>
          </a:p>
          <a:p>
            <a:endParaRPr lang="en-US" dirty="0"/>
          </a:p>
          <a:p>
            <a:r>
              <a:rPr lang="en-US" dirty="0"/>
              <a:t>Imagine you have point in the middle of the duct. The membrane of the duct would be pulling the cell towards it, because that force is what keeps the epithelial cells lining the duct. But the duct cell would also be pulling on the duct, which creates the column like structure we see in </a:t>
            </a:r>
            <a:r>
              <a:rPr lang="en-US" dirty="0" err="1"/>
              <a:t>PanINs</a:t>
            </a:r>
            <a:r>
              <a:rPr lang="en-US" dirty="0"/>
              <a:t>. </a:t>
            </a:r>
          </a:p>
        </p:txBody>
      </p:sp>
      <p:sp>
        <p:nvSpPr>
          <p:cNvPr id="4" name="Slide Number Placeholder 3">
            <a:extLst>
              <a:ext uri="{FF2B5EF4-FFF2-40B4-BE49-F238E27FC236}">
                <a16:creationId xmlns:a16="http://schemas.microsoft.com/office/drawing/2014/main" id="{E99C3ACA-30FF-8DE8-235B-FE51D55C0837}"/>
              </a:ext>
            </a:extLst>
          </p:cNvPr>
          <p:cNvSpPr>
            <a:spLocks noGrp="1"/>
          </p:cNvSpPr>
          <p:nvPr>
            <p:ph type="sldNum" sz="quarter" idx="5"/>
          </p:nvPr>
        </p:nvSpPr>
        <p:spPr/>
        <p:txBody>
          <a:bodyPr/>
          <a:lstStyle/>
          <a:p>
            <a:fld id="{B314B106-72D9-394B-AE7F-13630EA62899}" type="slidenum">
              <a:rPr lang="en-US" smtClean="0"/>
              <a:t>3</a:t>
            </a:fld>
            <a:endParaRPr lang="en-US"/>
          </a:p>
        </p:txBody>
      </p:sp>
    </p:spTree>
    <p:extLst>
      <p:ext uri="{BB962C8B-B14F-4D97-AF65-F5344CB8AC3E}">
        <p14:creationId xmlns:p14="http://schemas.microsoft.com/office/powerpoint/2010/main" val="2467136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79CB3-A21A-DE50-0904-6AA80D8C2B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EF8597-08D6-674A-D533-50F013ADF1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02F682-F949-EFC3-C6B2-20CF0E2DF4F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Pancreatic Ductal Adenocarcinoma is the most common subtype of pancreatic cancer, constituting about 90% of all pancreatic cancer. PDAC is the third leading cause of cancer-related deaths in the U.S., with a 5-year survival rate of only 13.3%. It is also known to have extremely poor prognosis, with nearly 90% of tumors already metastasized at diagnosis.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Force on Cell, Force on membrane instead of current labels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Pull Cell, Pull membrane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Consider adding spring in illustration </a:t>
            </a:r>
          </a:p>
        </p:txBody>
      </p:sp>
      <p:sp>
        <p:nvSpPr>
          <p:cNvPr id="4" name="Slide Number Placeholder 3">
            <a:extLst>
              <a:ext uri="{FF2B5EF4-FFF2-40B4-BE49-F238E27FC236}">
                <a16:creationId xmlns:a16="http://schemas.microsoft.com/office/drawing/2014/main" id="{5BC16D41-3CD0-2053-0DDC-56987738770A}"/>
              </a:ext>
            </a:extLst>
          </p:cNvPr>
          <p:cNvSpPr>
            <a:spLocks noGrp="1"/>
          </p:cNvSpPr>
          <p:nvPr>
            <p:ph type="sldNum" sz="quarter" idx="5"/>
          </p:nvPr>
        </p:nvSpPr>
        <p:spPr/>
        <p:txBody>
          <a:bodyPr/>
          <a:lstStyle/>
          <a:p>
            <a:fld id="{B314B106-72D9-394B-AE7F-13630EA62899}" type="slidenum">
              <a:rPr lang="en-US" smtClean="0"/>
              <a:t>4</a:t>
            </a:fld>
            <a:endParaRPr lang="en-US"/>
          </a:p>
        </p:txBody>
      </p:sp>
    </p:spTree>
    <p:extLst>
      <p:ext uri="{BB962C8B-B14F-4D97-AF65-F5344CB8AC3E}">
        <p14:creationId xmlns:p14="http://schemas.microsoft.com/office/powerpoint/2010/main" val="19963278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7EE42-29D3-F1FD-31DB-B7B3DE6D7C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DAFB9A-3B8C-0CE1-A88F-949513EA3F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29B6C3-E6A7-9FAD-DB76-7988048CA43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Pancreatic Ductal Adenocarcinoma is the most common subtype of pancreatic cancer, constituting about 90% of all pancreatic cancer. PDAC is the third leading cause of cancer-related deaths in the U.S., with a 5-year survival rate of only 13.3%. It is also known to have extremely poor prognosis, with nearly 90% of tumors already metastasized at diagnosis.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PDAC begins in the epithelial cells lining the pancreatic ducts, which are normally responsible for regulating secretion of digestive enzymes into the small intestine. In PDAC, these cells acquire mutations that cause them to proliferate uncontrollably and eventually rupture the ductal membrane. After spreading into the stroma, cancer-associated fibroblasts develop dense networks of collogen fibers, known as desmoplasia, around the previous pancreatic ducts. This creates almost like a shield around the tumor, protecting it from immune attack and drug penetration.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Pancreatic ductal adenocarcinoma is the most common subtype of pancreatic cancer, with a 5 year survival rate of only 13%. The low survival rate is thought to be due to multiple challenges to treatment such as the difficulty of detecting PDAC before it has metastasized. (add graphic) A hallmark of PDAC is what’s called a “desmoplastic” tumor microenvironment. Compared to healthy tissue on the left, PDAC on the right has masses of cell growth in places that used to be healthy ducts, and is infiltrated by a greater diversity of immune and stromal cells while being crisscrossed and encapsulated in this network of collagen fibers, which are deposited by cancer-associated fibroblasts. </a:t>
            </a:r>
            <a:r>
              <a:rPr lang="en-US" sz="1200" dirty="0"/>
              <a:t>The dense fibrotic network of collagen is referred to as desmoplasia and is seen in certain types of tumors.</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Those immune cells that are found in this microenvironment are often suppressive such as T regulatory cells and suppressive macrophages. Some of the immune cells are “residents” that were probably there in the healthy tissue, but others are recruited from the periphery (</a:t>
            </a:r>
            <a:r>
              <a:rPr lang="en-US" dirty="0" err="1"/>
              <a:t>BM+blood</a:t>
            </a:r>
            <a:r>
              <a:rPr lang="en-US" dirty="0"/>
              <a:t>)</a:t>
            </a:r>
          </a:p>
          <a:p>
            <a:endParaRPr lang="en-US" dirty="0"/>
          </a:p>
        </p:txBody>
      </p:sp>
      <p:sp>
        <p:nvSpPr>
          <p:cNvPr id="4" name="Slide Number Placeholder 3">
            <a:extLst>
              <a:ext uri="{FF2B5EF4-FFF2-40B4-BE49-F238E27FC236}">
                <a16:creationId xmlns:a16="http://schemas.microsoft.com/office/drawing/2014/main" id="{C867512C-6DBB-D0CC-AF61-464C7D690374}"/>
              </a:ext>
            </a:extLst>
          </p:cNvPr>
          <p:cNvSpPr>
            <a:spLocks noGrp="1"/>
          </p:cNvSpPr>
          <p:nvPr>
            <p:ph type="sldNum" sz="quarter" idx="5"/>
          </p:nvPr>
        </p:nvSpPr>
        <p:spPr/>
        <p:txBody>
          <a:bodyPr/>
          <a:lstStyle/>
          <a:p>
            <a:fld id="{B314B106-72D9-394B-AE7F-13630EA62899}" type="slidenum">
              <a:rPr lang="en-US" smtClean="0"/>
              <a:t>5</a:t>
            </a:fld>
            <a:endParaRPr lang="en-US"/>
          </a:p>
        </p:txBody>
      </p:sp>
    </p:spTree>
    <p:extLst>
      <p:ext uri="{BB962C8B-B14F-4D97-AF65-F5344CB8AC3E}">
        <p14:creationId xmlns:p14="http://schemas.microsoft.com/office/powerpoint/2010/main" val="3551505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7EE42-29D3-F1FD-31DB-B7B3DE6D7C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DAFB9A-3B8C-0CE1-A88F-949513EA3F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29B6C3-E6A7-9FAD-DB76-7988048CA43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Pancreatic Ductal Adenocarcinoma is the most common subtype of pancreatic cancer, constituting about 90% of all pancreatic cancer. PDAC is the third leading cause of cancer-related deaths in the U.S., with a 5-year survival rate of only 13.3%. It is also known to have extremely poor prognosis, with nearly 90% of tumors already metastasized at diagnosis.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PDAC begins in the epithelial cells lining the pancreatic ducts, which are normally responsible for regulating secretion of digestive enzymes into the small intestine. In PDAC, these cells acquire mutations that cause them to proliferate uncontrollably and eventually rupture the ductal membrane. After spreading into the stroma, cancer-associated fibroblasts develop dense networks of collogen fibers, known as desmoplasia, around the previous pancreatic ducts. This creates almost like a shield around the tumor, protecting it from immune attack and drug penetration.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Pancreatic ductal adenocarcinoma is the most common subtype of pancreatic cancer, with a 5 year survival rate of only 13%. The low survival rate is thought to be due to multiple challenges to treatment such as the difficulty of detecting PDAC before it has metastasized. (add graphic) A hallmark of PDAC is what’s called a “desmoplastic” tumor microenvironment. Compared to healthy tissue on the left, PDAC on the right has masses of cell growth in places that used to be healthy ducts, and is infiltrated by a greater diversity of immune and stromal cells while being crisscrossed and encapsulated in this network of collagen fibers, which are deposited by cancer-associated fibroblasts. </a:t>
            </a:r>
            <a:r>
              <a:rPr lang="en-US" sz="1200" dirty="0"/>
              <a:t>The dense fibrotic network of collagen is referred to as desmoplasia and is seen in certain types of tumors.</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Those immune cells that are found in this microenvironment are often suppressive such as T regulatory cells and suppressive macrophages. Some of the immune cells are “residents” that were probably there in the healthy tissue, but others are recruited from the periphery (</a:t>
            </a:r>
            <a:r>
              <a:rPr lang="en-US" dirty="0" err="1"/>
              <a:t>BM+blood</a:t>
            </a:r>
            <a:r>
              <a:rPr lang="en-US" dirty="0"/>
              <a:t>)</a:t>
            </a:r>
          </a:p>
          <a:p>
            <a:endParaRPr lang="en-US" dirty="0"/>
          </a:p>
        </p:txBody>
      </p:sp>
      <p:sp>
        <p:nvSpPr>
          <p:cNvPr id="4" name="Slide Number Placeholder 3">
            <a:extLst>
              <a:ext uri="{FF2B5EF4-FFF2-40B4-BE49-F238E27FC236}">
                <a16:creationId xmlns:a16="http://schemas.microsoft.com/office/drawing/2014/main" id="{C867512C-6DBB-D0CC-AF61-464C7D690374}"/>
              </a:ext>
            </a:extLst>
          </p:cNvPr>
          <p:cNvSpPr>
            <a:spLocks noGrp="1"/>
          </p:cNvSpPr>
          <p:nvPr>
            <p:ph type="sldNum" sz="quarter" idx="5"/>
          </p:nvPr>
        </p:nvSpPr>
        <p:spPr/>
        <p:txBody>
          <a:bodyPr/>
          <a:lstStyle/>
          <a:p>
            <a:fld id="{B314B106-72D9-394B-AE7F-13630EA62899}" type="slidenum">
              <a:rPr lang="en-US" smtClean="0"/>
              <a:t>6</a:t>
            </a:fld>
            <a:endParaRPr lang="en-US"/>
          </a:p>
        </p:txBody>
      </p:sp>
    </p:spTree>
    <p:extLst>
      <p:ext uri="{BB962C8B-B14F-4D97-AF65-F5344CB8AC3E}">
        <p14:creationId xmlns:p14="http://schemas.microsoft.com/office/powerpoint/2010/main" val="31737455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7EE42-29D3-F1FD-31DB-B7B3DE6D7C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DAFB9A-3B8C-0CE1-A88F-949513EA3F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29B6C3-E6A7-9FAD-DB76-7988048CA43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Pancreatic Ductal Adenocarcinoma is the most common subtype of pancreatic cancer, constituting about 90% of all pancreatic cancer. PDAC is the third leading cause of cancer-related deaths in the U.S., with a 5-year survival rate of only 13.3%. It is also known to have extremely poor prognosis, with nearly 90% of tumors already metastasized at diagnosis.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PDAC begins in the epithelial cells lining the pancreatic ducts, which are normally responsible for regulating secretion of digestive enzymes into the small intestine. In PDAC, these cells acquire mutations that cause them to proliferate uncontrollably and eventually rupture the ductal membrane. After spreading into the stroma, cancer-associated fibroblasts develop dense networks of collogen fibers, known as desmoplasia, around the previous pancreatic ducts. This creates almost like a shield around the tumor, protecting it from immune attack and drug penetration.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Pancreatic ductal adenocarcinoma is the most common subtype of pancreatic cancer, with a 5 year survival rate of only 13%. The low survival rate is thought to be due to multiple challenges to treatment such as the difficulty of detecting PDAC before it has metastasized. (add graphic) A hallmark of PDAC is what’s called a “desmoplastic” tumor microenvironment. Compared to healthy tissue on the left, PDAC on the right has masses of cell growth in places that used to be healthy ducts, and is infiltrated by a greater diversity of immune and stromal cells while being crisscrossed and encapsulated in this network of collagen fibers, which are deposited by cancer-associated fibroblasts. </a:t>
            </a:r>
            <a:r>
              <a:rPr lang="en-US" sz="1200" dirty="0"/>
              <a:t>The dense fibrotic network of collagen is referred to as desmoplasia and is seen in certain types of tumors.</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Those immune cells that are found in this microenvironment are often suppressive such as T regulatory cells and suppressive macrophages. Some of the immune cells are “residents” that were probably there in the healthy tissue, but others are recruited from the periphery (</a:t>
            </a:r>
            <a:r>
              <a:rPr lang="en-US" dirty="0" err="1"/>
              <a:t>BM+blood</a:t>
            </a:r>
            <a:r>
              <a:rPr lang="en-US" dirty="0"/>
              <a:t>)</a:t>
            </a:r>
          </a:p>
          <a:p>
            <a:endParaRPr lang="en-US" dirty="0"/>
          </a:p>
        </p:txBody>
      </p:sp>
      <p:sp>
        <p:nvSpPr>
          <p:cNvPr id="4" name="Slide Number Placeholder 3">
            <a:extLst>
              <a:ext uri="{FF2B5EF4-FFF2-40B4-BE49-F238E27FC236}">
                <a16:creationId xmlns:a16="http://schemas.microsoft.com/office/drawing/2014/main" id="{C867512C-6DBB-D0CC-AF61-464C7D690374}"/>
              </a:ext>
            </a:extLst>
          </p:cNvPr>
          <p:cNvSpPr>
            <a:spLocks noGrp="1"/>
          </p:cNvSpPr>
          <p:nvPr>
            <p:ph type="sldNum" sz="quarter" idx="5"/>
          </p:nvPr>
        </p:nvSpPr>
        <p:spPr/>
        <p:txBody>
          <a:bodyPr/>
          <a:lstStyle/>
          <a:p>
            <a:fld id="{B314B106-72D9-394B-AE7F-13630EA62899}" type="slidenum">
              <a:rPr lang="en-US" smtClean="0"/>
              <a:t>7</a:t>
            </a:fld>
            <a:endParaRPr lang="en-US"/>
          </a:p>
        </p:txBody>
      </p:sp>
    </p:spTree>
    <p:extLst>
      <p:ext uri="{BB962C8B-B14F-4D97-AF65-F5344CB8AC3E}">
        <p14:creationId xmlns:p14="http://schemas.microsoft.com/office/powerpoint/2010/main" val="26977821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7EE42-29D3-F1FD-31DB-B7B3DE6D7C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DAFB9A-3B8C-0CE1-A88F-949513EA3F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29B6C3-E6A7-9FAD-DB76-7988048CA43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Pancreatic Ductal Adenocarcinoma is the most common subtype of pancreatic cancer, constituting about 90% of all pancreatic cancer. PDAC is the third leading cause of cancer-related deaths in the U.S., with a 5-year survival rate of only 13.3%. It is also known to have extremely poor prognosis, with nearly 90% of tumors already metastasized at diagnosis.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PDAC begins in the epithelial cells lining the pancreatic ducts, which are normally responsible for regulating secretion of digestive enzymes into the small intestine. In PDAC, these cells acquire mutations that cause them to proliferate uncontrollably and eventually rupture the ductal membrane. After spreading into the stroma, cancer-associated fibroblasts develop dense networks of collogen fibers, known as desmoplasia, around the previous pancreatic ducts. This creates almost like a shield around the tumor, protecting it from immune attack and drug penetration.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Pancreatic ductal adenocarcinoma is the most common subtype of pancreatic cancer, with a 5 year survival rate of only 13%. The low survival rate is thought to be due to multiple challenges to treatment such as the difficulty of detecting PDAC before it has metastasized. (add graphic) A hallmark of PDAC is what’s called a “desmoplastic” tumor microenvironment. Compared to healthy tissue on the left, PDAC on the right has masses of cell growth in places that used to be healthy ducts, and is infiltrated by a greater diversity of immune and stromal cells while being crisscrossed and encapsulated in this network of collagen fibers, which are deposited by cancer-associated fibroblasts. </a:t>
            </a:r>
            <a:r>
              <a:rPr lang="en-US" sz="1200" dirty="0"/>
              <a:t>The dense fibrotic network of collagen is referred to as desmoplasia and is seen in certain types of tumors.</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Those immune cells that are found in this microenvironment are often suppressive such as T regulatory cells and suppressive macrophages. Some of the immune cells are “residents” that were probably there in the healthy tissue, but others are recruited from the periphery (</a:t>
            </a:r>
            <a:r>
              <a:rPr lang="en-US" dirty="0" err="1"/>
              <a:t>BM+blood</a:t>
            </a:r>
            <a:r>
              <a:rPr lang="en-US" dirty="0"/>
              <a:t>)</a:t>
            </a:r>
          </a:p>
          <a:p>
            <a:endParaRPr lang="en-US" dirty="0"/>
          </a:p>
        </p:txBody>
      </p:sp>
      <p:sp>
        <p:nvSpPr>
          <p:cNvPr id="4" name="Slide Number Placeholder 3">
            <a:extLst>
              <a:ext uri="{FF2B5EF4-FFF2-40B4-BE49-F238E27FC236}">
                <a16:creationId xmlns:a16="http://schemas.microsoft.com/office/drawing/2014/main" id="{C867512C-6DBB-D0CC-AF61-464C7D690374}"/>
              </a:ext>
            </a:extLst>
          </p:cNvPr>
          <p:cNvSpPr>
            <a:spLocks noGrp="1"/>
          </p:cNvSpPr>
          <p:nvPr>
            <p:ph type="sldNum" sz="quarter" idx="5"/>
          </p:nvPr>
        </p:nvSpPr>
        <p:spPr/>
        <p:txBody>
          <a:bodyPr/>
          <a:lstStyle/>
          <a:p>
            <a:fld id="{B314B106-72D9-394B-AE7F-13630EA62899}" type="slidenum">
              <a:rPr lang="en-US" smtClean="0"/>
              <a:t>8</a:t>
            </a:fld>
            <a:endParaRPr lang="en-US"/>
          </a:p>
        </p:txBody>
      </p:sp>
    </p:spTree>
    <p:extLst>
      <p:ext uri="{BB962C8B-B14F-4D97-AF65-F5344CB8AC3E}">
        <p14:creationId xmlns:p14="http://schemas.microsoft.com/office/powerpoint/2010/main" val="2666427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E7C563-1468-D032-14F9-05B0320DF2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4C368E-F327-8142-7827-7EE12DF319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7BAC35-9A7E-AB91-96E6-5A2FA94E3C6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Pancreatic Ductal Adenocarcinoma is the most common subtype of pancreatic cancer, constituting about 90% of all pancreatic cancer. PDAC is the third leading cause of cancer-related deaths in the U.S., with a 5-year survival rate of only 13.3%. It is also known to have extremely poor prognosis, with nearly 90% of tumors already metastasized at diagnosis.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PDAC begins in the epithelial cells lining the pancreatic ducts, which are normally responsible for regulating secretion of digestive enzymes into the small intestine. In PDAC, these cells acquire mutations that cause them to proliferate uncontrollably and eventually rupture the ductal membrane. After spreading into the stroma, cancer-associated fibroblasts develop dense networks of collogen fibers, known as desmoplasia, around the previous pancreatic ducts. This creates almost like a shield around the tumor, protecting it from immune attack and drug penetration.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Pancreatic ductal adenocarcinoma is the most common subtype of pancreatic cancer, with a 5 year survival rate of only 13%. The low survival rate is thought to be due to multiple challenges to treatment such as the difficulty of detecting PDAC before it has metastasized. (add graphic) A hallmark of PDAC is what’s called a “desmoplastic” tumor microenvironment. Compared to healthy tissue on the left, PDAC on the right has masses of cell growth in places that used to be healthy ducts, and is infiltrated by a greater diversity of immune and stromal cells while being crisscrossed and encapsulated in this network of collagen fibers, which are deposited by cancer-associated fibroblasts. </a:t>
            </a:r>
            <a:r>
              <a:rPr lang="en-US" sz="1200" dirty="0"/>
              <a:t>The dense fibrotic network of collagen is referred to as desmoplasia and is seen in certain types of tumors.</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Those immune cells that are found in this microenvironment are often suppressive such as T regulatory cells and suppressive macrophages. Some of the immune cells are “residents” that were probably there in the healthy tissue, but others are recruited from the periphery (</a:t>
            </a:r>
            <a:r>
              <a:rPr lang="en-US" dirty="0" err="1"/>
              <a:t>BM+blood</a:t>
            </a:r>
            <a:r>
              <a:rPr lang="en-US" dirty="0"/>
              <a:t>)</a:t>
            </a:r>
          </a:p>
          <a:p>
            <a:endParaRPr lang="en-US" dirty="0"/>
          </a:p>
        </p:txBody>
      </p:sp>
      <p:sp>
        <p:nvSpPr>
          <p:cNvPr id="4" name="Slide Number Placeholder 3">
            <a:extLst>
              <a:ext uri="{FF2B5EF4-FFF2-40B4-BE49-F238E27FC236}">
                <a16:creationId xmlns:a16="http://schemas.microsoft.com/office/drawing/2014/main" id="{F1D7AC39-EC1B-C3C1-76EC-6F799D4D5CAE}"/>
              </a:ext>
            </a:extLst>
          </p:cNvPr>
          <p:cNvSpPr>
            <a:spLocks noGrp="1"/>
          </p:cNvSpPr>
          <p:nvPr>
            <p:ph type="sldNum" sz="quarter" idx="5"/>
          </p:nvPr>
        </p:nvSpPr>
        <p:spPr/>
        <p:txBody>
          <a:bodyPr/>
          <a:lstStyle/>
          <a:p>
            <a:fld id="{B314B106-72D9-394B-AE7F-13630EA62899}" type="slidenum">
              <a:rPr lang="en-US" smtClean="0"/>
              <a:t>9</a:t>
            </a:fld>
            <a:endParaRPr lang="en-US"/>
          </a:p>
        </p:txBody>
      </p:sp>
    </p:spTree>
    <p:extLst>
      <p:ext uri="{BB962C8B-B14F-4D97-AF65-F5344CB8AC3E}">
        <p14:creationId xmlns:p14="http://schemas.microsoft.com/office/powerpoint/2010/main" val="21463242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B5D82C-E6ED-184E-3F2A-04610D796E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68A09B-29FD-B147-497B-CE3C162E13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F4CD69-A86D-65B8-44EA-134570B3E403}"/>
              </a:ext>
            </a:extLst>
          </p:cNvPr>
          <p:cNvSpPr>
            <a:spLocks noGrp="1"/>
          </p:cNvSpPr>
          <p:nvPr>
            <p:ph type="body" idx="1"/>
          </p:nvPr>
        </p:nvSpPr>
        <p:spPr/>
        <p:txBody>
          <a:bodyPr/>
          <a:lstStyle/>
          <a:p>
            <a:r>
              <a:rPr lang="en-US" dirty="0"/>
              <a:t>Laminins are glycoproteins that act as scaffolding for the basement membrane. </a:t>
            </a:r>
          </a:p>
          <a:p>
            <a:endParaRPr lang="en-US" dirty="0"/>
          </a:p>
          <a:p>
            <a:r>
              <a:rPr lang="en-US" dirty="0"/>
              <a:t>Collogen IV is the sheet-like network that provides tensile strength to the basement membrane. </a:t>
            </a:r>
          </a:p>
          <a:p>
            <a:endParaRPr lang="en-US" dirty="0"/>
          </a:p>
          <a:p>
            <a:r>
              <a:rPr lang="en-US" dirty="0"/>
              <a:t>Epithelial cells are polarized, meaning they have an apical (facing the lumen) and a basal side (facing the BM). This basal side expresses integrins and other receptors that lock the cells to the membrane. </a:t>
            </a:r>
          </a:p>
          <a:p>
            <a:endParaRPr lang="en-US" dirty="0"/>
          </a:p>
          <a:p>
            <a:r>
              <a:rPr lang="en-US" dirty="0"/>
              <a:t>Integrins are transmembrane receptors that </a:t>
            </a:r>
            <a:r>
              <a:rPr lang="en-US" dirty="0" err="1"/>
              <a:t>lamanin</a:t>
            </a:r>
            <a:r>
              <a:rPr lang="en-US" dirty="0"/>
              <a:t> binds to. </a:t>
            </a:r>
          </a:p>
        </p:txBody>
      </p:sp>
      <p:sp>
        <p:nvSpPr>
          <p:cNvPr id="4" name="Slide Number Placeholder 3">
            <a:extLst>
              <a:ext uri="{FF2B5EF4-FFF2-40B4-BE49-F238E27FC236}">
                <a16:creationId xmlns:a16="http://schemas.microsoft.com/office/drawing/2014/main" id="{6DA0D442-5DAF-E6B9-625B-404D7E90AB7D}"/>
              </a:ext>
            </a:extLst>
          </p:cNvPr>
          <p:cNvSpPr>
            <a:spLocks noGrp="1"/>
          </p:cNvSpPr>
          <p:nvPr>
            <p:ph type="sldNum" sz="quarter" idx="5"/>
          </p:nvPr>
        </p:nvSpPr>
        <p:spPr/>
        <p:txBody>
          <a:bodyPr/>
          <a:lstStyle/>
          <a:p>
            <a:fld id="{B314B106-72D9-394B-AE7F-13630EA62899}" type="slidenum">
              <a:rPr lang="en-US" smtClean="0"/>
              <a:t>10</a:t>
            </a:fld>
            <a:endParaRPr lang="en-US"/>
          </a:p>
        </p:txBody>
      </p:sp>
    </p:spTree>
    <p:extLst>
      <p:ext uri="{BB962C8B-B14F-4D97-AF65-F5344CB8AC3E}">
        <p14:creationId xmlns:p14="http://schemas.microsoft.com/office/powerpoint/2010/main" val="40874985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5683DD-A8C1-710B-5E6C-D5F5A84D83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D2A36D-ACA9-D2A0-54EE-5255CBE0B3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4518B0-E444-FBC8-EFE3-D7C1567F569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Pancreatic Ductal Adenocarcinoma is the most common subtype of pancreatic cancer, constituting about 90% of all pancreatic cancer. PDAC is the third leading cause of cancer-related deaths in the U.S., with a 5-year survival rate of only 13.3%. It is also known to have extremely poor prognosis, with nearly 90% of tumors already metastasized at diagnosis.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241864D2-5790-DA76-6EC4-9F843DA6A508}"/>
              </a:ext>
            </a:extLst>
          </p:cNvPr>
          <p:cNvSpPr>
            <a:spLocks noGrp="1"/>
          </p:cNvSpPr>
          <p:nvPr>
            <p:ph type="sldNum" sz="quarter" idx="5"/>
          </p:nvPr>
        </p:nvSpPr>
        <p:spPr/>
        <p:txBody>
          <a:bodyPr/>
          <a:lstStyle/>
          <a:p>
            <a:fld id="{B314B106-72D9-394B-AE7F-13630EA62899}" type="slidenum">
              <a:rPr lang="en-US" smtClean="0"/>
              <a:t>11</a:t>
            </a:fld>
            <a:endParaRPr lang="en-US"/>
          </a:p>
        </p:txBody>
      </p:sp>
    </p:spTree>
    <p:extLst>
      <p:ext uri="{BB962C8B-B14F-4D97-AF65-F5344CB8AC3E}">
        <p14:creationId xmlns:p14="http://schemas.microsoft.com/office/powerpoint/2010/main" val="33255028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862B51-A798-C10D-42D1-BF74C95CFE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95A781-99AC-484D-9687-8E4ECDFDD0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ACDAE2-9AED-1D4B-9792-25E01B5A124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4848C73-EDA6-51D9-D213-CF061EFAE17A}"/>
              </a:ext>
            </a:extLst>
          </p:cNvPr>
          <p:cNvSpPr>
            <a:spLocks noGrp="1"/>
          </p:cNvSpPr>
          <p:nvPr>
            <p:ph type="sldNum" sz="quarter" idx="5"/>
          </p:nvPr>
        </p:nvSpPr>
        <p:spPr/>
        <p:txBody>
          <a:bodyPr/>
          <a:lstStyle/>
          <a:p>
            <a:fld id="{B314B106-72D9-394B-AE7F-13630EA62899}" type="slidenum">
              <a:rPr lang="en-US" smtClean="0"/>
              <a:t>12</a:t>
            </a:fld>
            <a:endParaRPr lang="en-US"/>
          </a:p>
        </p:txBody>
      </p:sp>
    </p:spTree>
    <p:extLst>
      <p:ext uri="{BB962C8B-B14F-4D97-AF65-F5344CB8AC3E}">
        <p14:creationId xmlns:p14="http://schemas.microsoft.com/office/powerpoint/2010/main" val="4762368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D5471-99C7-6A11-50AC-2F8A11D75E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259E15-8FE2-1EE5-4029-B80AE6760D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AB56CA-D47E-2AD5-021B-8AC0CBB70804}"/>
              </a:ext>
            </a:extLst>
          </p:cNvPr>
          <p:cNvSpPr>
            <a:spLocks noGrp="1"/>
          </p:cNvSpPr>
          <p:nvPr>
            <p:ph type="body" idx="1"/>
          </p:nvPr>
        </p:nvSpPr>
        <p:spPr/>
        <p:txBody>
          <a:bodyPr/>
          <a:lstStyle/>
          <a:p>
            <a:r>
              <a:rPr lang="en-US" dirty="0"/>
              <a:t>This is the standard Gaussian function, and it ensures that closer points get a much higher weight than distant points. </a:t>
            </a:r>
          </a:p>
          <a:p>
            <a:endParaRPr lang="en-US" dirty="0"/>
          </a:p>
          <a:p>
            <a:r>
              <a:rPr lang="en-US" dirty="0"/>
              <a:t>Next, to ensure we are only </a:t>
            </a:r>
            <a:r>
              <a:rPr lang="en-US" i="1" dirty="0"/>
              <a:t>distributing</a:t>
            </a:r>
            <a:r>
              <a:rPr lang="en-US" dirty="0"/>
              <a:t> the force, not changing its overall magnitude, we need the weights to sum to 1. So, we take each individual weight and divide it by the sum of all the weights.“</a:t>
            </a:r>
          </a:p>
          <a:p>
            <a:endParaRPr lang="en-US" dirty="0"/>
          </a:p>
          <a:p>
            <a:r>
              <a:rPr lang="en-US" dirty="0"/>
              <a:t>"Finally, we apply the force. The force vector applied to each individual membrane node is simply the total force from the cell multiplied by that node's normalized weight.“</a:t>
            </a:r>
          </a:p>
          <a:p>
            <a:endParaRPr lang="en-US" dirty="0"/>
          </a:p>
          <a:p>
            <a:r>
              <a:rPr lang="en-US" dirty="0"/>
              <a:t>"The code does this by adding this fraction of the force to an accumulator for each node, which is then used to update the membrane's position at the end of the time step."</a:t>
            </a:r>
          </a:p>
          <a:p>
            <a:endParaRPr lang="en-US" dirty="0"/>
          </a:p>
          <a:p>
            <a:endParaRPr lang="en-US" dirty="0"/>
          </a:p>
          <a:p>
            <a:r>
              <a:rPr lang="en-US" b="1" dirty="0"/>
              <a:t>Diagram of a couple cells with a gaussian bell curve to wrap the concept together. </a:t>
            </a:r>
          </a:p>
        </p:txBody>
      </p:sp>
      <p:sp>
        <p:nvSpPr>
          <p:cNvPr id="4" name="Slide Number Placeholder 3">
            <a:extLst>
              <a:ext uri="{FF2B5EF4-FFF2-40B4-BE49-F238E27FC236}">
                <a16:creationId xmlns:a16="http://schemas.microsoft.com/office/drawing/2014/main" id="{355E3C8F-6B75-D2A4-B344-3BF24AF1B69F}"/>
              </a:ext>
            </a:extLst>
          </p:cNvPr>
          <p:cNvSpPr>
            <a:spLocks noGrp="1"/>
          </p:cNvSpPr>
          <p:nvPr>
            <p:ph type="sldNum" sz="quarter" idx="5"/>
          </p:nvPr>
        </p:nvSpPr>
        <p:spPr/>
        <p:txBody>
          <a:bodyPr/>
          <a:lstStyle/>
          <a:p>
            <a:fld id="{B314B106-72D9-394B-AE7F-13630EA62899}" type="slidenum">
              <a:rPr lang="en-US" smtClean="0"/>
              <a:t>13</a:t>
            </a:fld>
            <a:endParaRPr lang="en-US"/>
          </a:p>
        </p:txBody>
      </p:sp>
    </p:spTree>
    <p:extLst>
      <p:ext uri="{BB962C8B-B14F-4D97-AF65-F5344CB8AC3E}">
        <p14:creationId xmlns:p14="http://schemas.microsoft.com/office/powerpoint/2010/main" val="8075177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C71709-5504-9512-F144-8BB0FA7DEC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F6ECED-793E-1853-3637-313BE91F80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9209C2-300A-C0DC-D11A-B1374B1E530D}"/>
              </a:ext>
            </a:extLst>
          </p:cNvPr>
          <p:cNvSpPr>
            <a:spLocks noGrp="1"/>
          </p:cNvSpPr>
          <p:nvPr>
            <p:ph type="body" idx="1"/>
          </p:nvPr>
        </p:nvSpPr>
        <p:spPr/>
        <p:txBody>
          <a:bodyPr/>
          <a:lstStyle/>
          <a:p>
            <a:r>
              <a:rPr lang="en-US" dirty="0"/>
              <a:t> Include discussion of dead zone for cell equilibrium. </a:t>
            </a:r>
          </a:p>
          <a:p>
            <a:endParaRPr lang="en-US" dirty="0"/>
          </a:p>
          <a:p>
            <a:r>
              <a:rPr lang="en-US" b="1" dirty="0"/>
              <a:t>Simulation that shows this repulsive force keeps the cells from moving through the membrane. </a:t>
            </a:r>
          </a:p>
          <a:p>
            <a:endParaRPr lang="en-US" dirty="0"/>
          </a:p>
          <a:p>
            <a:r>
              <a:rPr lang="en-US" dirty="0"/>
              <a:t>Discuss if the repulsive force will cause the membrane to deform and bend. </a:t>
            </a:r>
          </a:p>
        </p:txBody>
      </p:sp>
      <p:sp>
        <p:nvSpPr>
          <p:cNvPr id="4" name="Slide Number Placeholder 3">
            <a:extLst>
              <a:ext uri="{FF2B5EF4-FFF2-40B4-BE49-F238E27FC236}">
                <a16:creationId xmlns:a16="http://schemas.microsoft.com/office/drawing/2014/main" id="{01A49AEE-9D1A-E306-8A9D-07D1498F8051}"/>
              </a:ext>
            </a:extLst>
          </p:cNvPr>
          <p:cNvSpPr>
            <a:spLocks noGrp="1"/>
          </p:cNvSpPr>
          <p:nvPr>
            <p:ph type="sldNum" sz="quarter" idx="5"/>
          </p:nvPr>
        </p:nvSpPr>
        <p:spPr/>
        <p:txBody>
          <a:bodyPr/>
          <a:lstStyle/>
          <a:p>
            <a:fld id="{B314B106-72D9-394B-AE7F-13630EA62899}" type="slidenum">
              <a:rPr lang="en-US" smtClean="0"/>
              <a:t>14</a:t>
            </a:fld>
            <a:endParaRPr lang="en-US"/>
          </a:p>
        </p:txBody>
      </p:sp>
    </p:spTree>
    <p:extLst>
      <p:ext uri="{BB962C8B-B14F-4D97-AF65-F5344CB8AC3E}">
        <p14:creationId xmlns:p14="http://schemas.microsoft.com/office/powerpoint/2010/main" val="15197643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6EBF91-E33B-40E4-D9A0-66EAC2610C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962EB3-7BCB-A4AB-7EC9-71A0932603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7CFCB3-20BB-AD02-2151-488D04088514}"/>
              </a:ext>
            </a:extLst>
          </p:cNvPr>
          <p:cNvSpPr>
            <a:spLocks noGrp="1"/>
          </p:cNvSpPr>
          <p:nvPr>
            <p:ph type="body" idx="1"/>
          </p:nvPr>
        </p:nvSpPr>
        <p:spPr/>
        <p:txBody>
          <a:bodyPr/>
          <a:lstStyle/>
          <a:p>
            <a:r>
              <a:rPr lang="en-US" sz="1200" b="1" i="0" kern="1200" dirty="0">
                <a:solidFill>
                  <a:schemeClr val="tx1"/>
                </a:solidFill>
                <a:effectLst/>
                <a:latin typeface="+mn-lt"/>
                <a:ea typeface="+mn-ea"/>
                <a:cs typeface="+mn-cs"/>
              </a:rPr>
              <a:t>force-sensitive ion-channel protein Piezo1. Detects physical forces like pressure and stretch. </a:t>
            </a:r>
            <a:endParaRPr lang="en-US" dirty="0"/>
          </a:p>
        </p:txBody>
      </p:sp>
      <p:sp>
        <p:nvSpPr>
          <p:cNvPr id="4" name="Slide Number Placeholder 3">
            <a:extLst>
              <a:ext uri="{FF2B5EF4-FFF2-40B4-BE49-F238E27FC236}">
                <a16:creationId xmlns:a16="http://schemas.microsoft.com/office/drawing/2014/main" id="{EE46131B-3979-EDA6-D9FB-3DED80E112E3}"/>
              </a:ext>
            </a:extLst>
          </p:cNvPr>
          <p:cNvSpPr>
            <a:spLocks noGrp="1"/>
          </p:cNvSpPr>
          <p:nvPr>
            <p:ph type="sldNum" sz="quarter" idx="5"/>
          </p:nvPr>
        </p:nvSpPr>
        <p:spPr/>
        <p:txBody>
          <a:bodyPr/>
          <a:lstStyle/>
          <a:p>
            <a:fld id="{B314B106-72D9-394B-AE7F-13630EA62899}" type="slidenum">
              <a:rPr lang="en-US" smtClean="0"/>
              <a:t>15</a:t>
            </a:fld>
            <a:endParaRPr lang="en-US"/>
          </a:p>
        </p:txBody>
      </p:sp>
    </p:spTree>
    <p:extLst>
      <p:ext uri="{BB962C8B-B14F-4D97-AF65-F5344CB8AC3E}">
        <p14:creationId xmlns:p14="http://schemas.microsoft.com/office/powerpoint/2010/main" val="2861050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89A422-7D21-691A-193D-F063BA89CB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FB0B0E-B47D-DF32-3A0C-BF87D61C91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1AA85D-7FFE-F055-75F1-8D51A0E28BC1}"/>
              </a:ext>
            </a:extLst>
          </p:cNvPr>
          <p:cNvSpPr>
            <a:spLocks noGrp="1"/>
          </p:cNvSpPr>
          <p:nvPr>
            <p:ph type="body" idx="1"/>
          </p:nvPr>
        </p:nvSpPr>
        <p:spPr/>
        <p:txBody>
          <a:bodyPr/>
          <a:lstStyle/>
          <a:p>
            <a:r>
              <a:rPr lang="en-US" dirty="0"/>
              <a:t>Show diagram of this parallel cell division concept. </a:t>
            </a:r>
          </a:p>
          <a:p>
            <a:endParaRPr lang="en-US" dirty="0"/>
          </a:p>
          <a:p>
            <a:r>
              <a:rPr lang="en-US" dirty="0"/>
              <a:t>Show simulation with just 3 cells and proliferation. </a:t>
            </a:r>
          </a:p>
          <a:p>
            <a:endParaRPr lang="en-US" dirty="0"/>
          </a:p>
          <a:p>
            <a:r>
              <a:rPr lang="en-US" dirty="0"/>
              <a:t>Fast proliferation rate and rule where time decreases cycle entry. Flat line</a:t>
            </a:r>
          </a:p>
        </p:txBody>
      </p:sp>
      <p:sp>
        <p:nvSpPr>
          <p:cNvPr id="4" name="Slide Number Placeholder 3">
            <a:extLst>
              <a:ext uri="{FF2B5EF4-FFF2-40B4-BE49-F238E27FC236}">
                <a16:creationId xmlns:a16="http://schemas.microsoft.com/office/drawing/2014/main" id="{56C3FE57-EB23-2271-CA64-57A97FA4E22C}"/>
              </a:ext>
            </a:extLst>
          </p:cNvPr>
          <p:cNvSpPr>
            <a:spLocks noGrp="1"/>
          </p:cNvSpPr>
          <p:nvPr>
            <p:ph type="sldNum" sz="quarter" idx="5"/>
          </p:nvPr>
        </p:nvSpPr>
        <p:spPr/>
        <p:txBody>
          <a:bodyPr/>
          <a:lstStyle/>
          <a:p>
            <a:fld id="{B314B106-72D9-394B-AE7F-13630EA62899}" type="slidenum">
              <a:rPr lang="en-US" smtClean="0"/>
              <a:t>16</a:t>
            </a:fld>
            <a:endParaRPr lang="en-US"/>
          </a:p>
        </p:txBody>
      </p:sp>
    </p:spTree>
    <p:extLst>
      <p:ext uri="{BB962C8B-B14F-4D97-AF65-F5344CB8AC3E}">
        <p14:creationId xmlns:p14="http://schemas.microsoft.com/office/powerpoint/2010/main" val="7349581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89A422-7D21-691A-193D-F063BA89CB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FB0B0E-B47D-DF32-3A0C-BF87D61C91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1AA85D-7FFE-F055-75F1-8D51A0E28BC1}"/>
              </a:ext>
            </a:extLst>
          </p:cNvPr>
          <p:cNvSpPr>
            <a:spLocks noGrp="1"/>
          </p:cNvSpPr>
          <p:nvPr>
            <p:ph type="body" idx="1"/>
          </p:nvPr>
        </p:nvSpPr>
        <p:spPr/>
        <p:txBody>
          <a:bodyPr/>
          <a:lstStyle/>
          <a:p>
            <a:r>
              <a:rPr lang="en-US" dirty="0"/>
              <a:t>Show diagram of this parallel cell division concept. </a:t>
            </a:r>
          </a:p>
          <a:p>
            <a:endParaRPr lang="en-US" dirty="0"/>
          </a:p>
          <a:p>
            <a:r>
              <a:rPr lang="en-US" dirty="0"/>
              <a:t>Show simulation with just 3 cells and proliferation. </a:t>
            </a:r>
          </a:p>
          <a:p>
            <a:endParaRPr lang="en-US" dirty="0"/>
          </a:p>
          <a:p>
            <a:r>
              <a:rPr lang="en-US" dirty="0"/>
              <a:t>Fast proliferation rate and rule where time decreases cycle entry. Flat line</a:t>
            </a:r>
          </a:p>
        </p:txBody>
      </p:sp>
      <p:sp>
        <p:nvSpPr>
          <p:cNvPr id="4" name="Slide Number Placeholder 3">
            <a:extLst>
              <a:ext uri="{FF2B5EF4-FFF2-40B4-BE49-F238E27FC236}">
                <a16:creationId xmlns:a16="http://schemas.microsoft.com/office/drawing/2014/main" id="{56C3FE57-EB23-2271-CA64-57A97FA4E22C}"/>
              </a:ext>
            </a:extLst>
          </p:cNvPr>
          <p:cNvSpPr>
            <a:spLocks noGrp="1"/>
          </p:cNvSpPr>
          <p:nvPr>
            <p:ph type="sldNum" sz="quarter" idx="5"/>
          </p:nvPr>
        </p:nvSpPr>
        <p:spPr/>
        <p:txBody>
          <a:bodyPr/>
          <a:lstStyle/>
          <a:p>
            <a:fld id="{B314B106-72D9-394B-AE7F-13630EA62899}" type="slidenum">
              <a:rPr lang="en-US" smtClean="0"/>
              <a:t>17</a:t>
            </a:fld>
            <a:endParaRPr lang="en-US"/>
          </a:p>
        </p:txBody>
      </p:sp>
    </p:spTree>
    <p:extLst>
      <p:ext uri="{BB962C8B-B14F-4D97-AF65-F5344CB8AC3E}">
        <p14:creationId xmlns:p14="http://schemas.microsoft.com/office/powerpoint/2010/main" val="25781091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8BFDEC-C46E-816F-49D0-FAFE99EE67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DBBEDB-1D29-9DE2-E68B-113E425110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2A5405-C229-9DAA-3BAA-B68D10F5A54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Pancreatic Ductal Adenocarcinoma is the most common subtype of pancreatic cancer, constituting about 90% of all pancreatic cancer. PDAC is the third leading cause of cancer-related deaths in the U.S., with a 5-year survival rate of only 13.3%. It is also known to have extremely poor prognosis, with nearly 90% of tumors already metastasized at diagnosis.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PDAC begins in the epithelial cells lining the pancreatic ducts, which are normally responsible for regulating secretion of digestive enzymes into the small intestine. In PDAC, these cells acquire mutations that cause them to proliferate uncontrollably and eventually rupture the ductal membrane. After spreading into the stroma, cancer-associated fibroblasts develop dense networks of collogen fibers, known as desmoplasia, around the previous pancreatic ducts. This creates almost like a shield around the tumor, protecting it from immune attack and drug penetration.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Pancreatic ductal adenocarcinoma is the most common subtype of pancreatic cancer, with a 5 year survival rate of only 13%. The low survival rate is thought to be due to multiple challenges to treatment such as the difficulty of detecting PDAC before it has metastasized. (add graphic) A hallmark of PDAC is what’s called a “desmoplastic” tumor microenvironment. Compared to healthy tissue on the left, PDAC on the right has masses of cell growth in places that used to be healthy ducts, and is infiltrated by a greater diversity of immune and stromal cells while being crisscrossed and encapsulated in this network of collagen fibers, which are deposited by cancer-associated fibroblasts. </a:t>
            </a:r>
            <a:r>
              <a:rPr lang="en-US" sz="1200" dirty="0"/>
              <a:t>The dense fibrotic network of collagen is referred to as desmoplasia and is seen in certain types of tumors.</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Those immune cells that are found in this microenvironment are often suppressive such as T regulatory cells and suppressive macrophages. Some of the immune cells are “residents” that were probably there in the healthy tissue, but others are recruited from the periphery (</a:t>
            </a:r>
            <a:r>
              <a:rPr lang="en-US" dirty="0" err="1"/>
              <a:t>BM+blood</a:t>
            </a:r>
            <a:r>
              <a:rPr lang="en-US" dirty="0"/>
              <a:t>)</a:t>
            </a:r>
          </a:p>
          <a:p>
            <a:endParaRPr lang="en-US" dirty="0"/>
          </a:p>
        </p:txBody>
      </p:sp>
      <p:sp>
        <p:nvSpPr>
          <p:cNvPr id="4" name="Slide Number Placeholder 3">
            <a:extLst>
              <a:ext uri="{FF2B5EF4-FFF2-40B4-BE49-F238E27FC236}">
                <a16:creationId xmlns:a16="http://schemas.microsoft.com/office/drawing/2014/main" id="{DF6AAC91-709E-EC77-1A59-6CA08CB41594}"/>
              </a:ext>
            </a:extLst>
          </p:cNvPr>
          <p:cNvSpPr>
            <a:spLocks noGrp="1"/>
          </p:cNvSpPr>
          <p:nvPr>
            <p:ph type="sldNum" sz="quarter" idx="5"/>
          </p:nvPr>
        </p:nvSpPr>
        <p:spPr/>
        <p:txBody>
          <a:bodyPr/>
          <a:lstStyle/>
          <a:p>
            <a:fld id="{B314B106-72D9-394B-AE7F-13630EA62899}" type="slidenum">
              <a:rPr lang="en-US" smtClean="0"/>
              <a:t>18</a:t>
            </a:fld>
            <a:endParaRPr lang="en-US"/>
          </a:p>
        </p:txBody>
      </p:sp>
    </p:spTree>
    <p:extLst>
      <p:ext uri="{BB962C8B-B14F-4D97-AF65-F5344CB8AC3E}">
        <p14:creationId xmlns:p14="http://schemas.microsoft.com/office/powerpoint/2010/main" val="36356328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8BFDEC-C46E-816F-49D0-FAFE99EE67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DBBEDB-1D29-9DE2-E68B-113E425110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2A5405-C229-9DAA-3BAA-B68D10F5A54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Pancreatic Ductal Adenocarcinoma is the most common subtype of pancreatic cancer, constituting about 90% of all pancreatic cancer. PDAC is the third leading cause of cancer-related deaths in the U.S., with a 5-year survival rate of only 13.3%. It is also known to have extremely poor prognosis, with nearly 90% of tumors already metastasized at diagnosis.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PDAC begins in the epithelial cells lining the pancreatic ducts, which are normally responsible for regulating secretion of digestive enzymes into the small intestine. In PDAC, these cells acquire mutations that cause them to proliferate uncontrollably and eventually rupture the ductal membrane. After spreading into the stroma, cancer-associated fibroblasts develop dense networks of collogen fibers, known as desmoplasia, around the previous pancreatic ducts. This creates almost like a shield around the tumor, protecting it from immune attack and drug penetration.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Pancreatic ductal adenocarcinoma is the most common subtype of pancreatic cancer, with a 5 year survival rate of only 13%. The low survival rate is thought to be due to multiple challenges to treatment such as the difficulty of detecting PDAC before it has metastasized. (add graphic) A hallmark of PDAC is what’s called a “desmoplastic” tumor microenvironment. Compared to healthy tissue on the left, PDAC on the right has masses of cell growth in places that used to be healthy ducts, and is infiltrated by a greater diversity of immune and stromal cells while being crisscrossed and encapsulated in this network of collagen fibers, which are deposited by cancer-associated fibroblasts. </a:t>
            </a:r>
            <a:r>
              <a:rPr lang="en-US" sz="1200" dirty="0"/>
              <a:t>The dense fibrotic network of collagen is referred to as desmoplasia and is seen in certain types of tumors.</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Those immune cells that are found in this microenvironment are often suppressive such as T regulatory cells and suppressive macrophages. Some of the immune cells are “residents” that were probably there in the healthy tissue, but others are recruited from the periphery (</a:t>
            </a:r>
            <a:r>
              <a:rPr lang="en-US" dirty="0" err="1"/>
              <a:t>BM+blood</a:t>
            </a:r>
            <a:r>
              <a:rPr lang="en-US" dirty="0"/>
              <a:t>)</a:t>
            </a:r>
          </a:p>
          <a:p>
            <a:endParaRPr lang="en-US" dirty="0"/>
          </a:p>
        </p:txBody>
      </p:sp>
      <p:sp>
        <p:nvSpPr>
          <p:cNvPr id="4" name="Slide Number Placeholder 3">
            <a:extLst>
              <a:ext uri="{FF2B5EF4-FFF2-40B4-BE49-F238E27FC236}">
                <a16:creationId xmlns:a16="http://schemas.microsoft.com/office/drawing/2014/main" id="{DF6AAC91-709E-EC77-1A59-6CA08CB41594}"/>
              </a:ext>
            </a:extLst>
          </p:cNvPr>
          <p:cNvSpPr>
            <a:spLocks noGrp="1"/>
          </p:cNvSpPr>
          <p:nvPr>
            <p:ph type="sldNum" sz="quarter" idx="5"/>
          </p:nvPr>
        </p:nvSpPr>
        <p:spPr/>
        <p:txBody>
          <a:bodyPr/>
          <a:lstStyle/>
          <a:p>
            <a:fld id="{B314B106-72D9-394B-AE7F-13630EA62899}" type="slidenum">
              <a:rPr lang="en-US" smtClean="0"/>
              <a:t>19</a:t>
            </a:fld>
            <a:endParaRPr lang="en-US"/>
          </a:p>
        </p:txBody>
      </p:sp>
    </p:spTree>
    <p:extLst>
      <p:ext uri="{BB962C8B-B14F-4D97-AF65-F5344CB8AC3E}">
        <p14:creationId xmlns:p14="http://schemas.microsoft.com/office/powerpoint/2010/main" val="241859168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79CB3-A21A-DE50-0904-6AA80D8C2B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EF8597-08D6-674A-D533-50F013ADF1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02F682-F949-EFC3-C6B2-20CF0E2DF4F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Pancreatic Ductal Adenocarcinoma is the most common subtype of pancreatic cancer, constituting about 90% of all pancreatic cancer. PDAC is the third leading cause of cancer-related deaths in the U.S., with a 5-year survival rate of only 13.3%. It is also known to have extremely poor prognosis, with nearly 90% of tumors already metastasized at diagnosis.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PDAC begins in the epithelial cells lining the pancreatic ducts, which are normally responsible for regulating secretion of digestive enzymes into the small intestine. In PDAC, these cells acquire mutations that cause them to proliferate uncontrollably and eventually rupture the ductal membrane. After spreading into the stroma, cancer-associated fibroblasts develop dense networks of collogen fibers, known as desmoplasia, around the previous pancreatic ducts. This creates almost like a shield around the tumor, protecting it from immune attack and drug penetration.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Pancreatic ductal adenocarcinoma is the most common subtype of pancreatic cancer, with a 5 year survival rate of only 13%. The low survival rate is thought to be due to multiple challenges to treatment such as the difficulty of detecting PDAC before it has metastasized. (add graphic) A hallmark of PDAC is what’s called a “desmoplastic” tumor microenvironment. Compared to healthy tissue on the left, PDAC on the right has masses of cell growth in places that used to be healthy ducts, and is infiltrated by a greater diversity of immune and stromal cells while being crisscrossed and encapsulated in this network of collagen fibers, which are deposited by cancer-associated fibroblasts. </a:t>
            </a:r>
            <a:r>
              <a:rPr lang="en-US" sz="1200" dirty="0"/>
              <a:t>The dense fibrotic network of collagen is referred to as desmoplasia and is seen in certain types of tumors.</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Those immune cells that are found in this microenvironment are often suppressive such as T regulatory cells and suppressive macrophages. Some of the immune cells are “residents” that were probably there in the healthy tissue, but others are recruited from the periphery (</a:t>
            </a:r>
            <a:r>
              <a:rPr lang="en-US" dirty="0" err="1"/>
              <a:t>BM+blood</a:t>
            </a:r>
            <a:r>
              <a:rPr lang="en-US" dirty="0"/>
              <a:t>)</a:t>
            </a:r>
          </a:p>
          <a:p>
            <a:endParaRPr lang="en-US" dirty="0"/>
          </a:p>
        </p:txBody>
      </p:sp>
      <p:sp>
        <p:nvSpPr>
          <p:cNvPr id="4" name="Slide Number Placeholder 3">
            <a:extLst>
              <a:ext uri="{FF2B5EF4-FFF2-40B4-BE49-F238E27FC236}">
                <a16:creationId xmlns:a16="http://schemas.microsoft.com/office/drawing/2014/main" id="{5BC16D41-3CD0-2053-0DDC-56987738770A}"/>
              </a:ext>
            </a:extLst>
          </p:cNvPr>
          <p:cNvSpPr>
            <a:spLocks noGrp="1"/>
          </p:cNvSpPr>
          <p:nvPr>
            <p:ph type="sldNum" sz="quarter" idx="5"/>
          </p:nvPr>
        </p:nvSpPr>
        <p:spPr/>
        <p:txBody>
          <a:bodyPr/>
          <a:lstStyle/>
          <a:p>
            <a:fld id="{B314B106-72D9-394B-AE7F-13630EA62899}" type="slidenum">
              <a:rPr lang="en-US" smtClean="0"/>
              <a:t>20</a:t>
            </a:fld>
            <a:endParaRPr lang="en-US"/>
          </a:p>
        </p:txBody>
      </p:sp>
    </p:spTree>
    <p:extLst>
      <p:ext uri="{BB962C8B-B14F-4D97-AF65-F5344CB8AC3E}">
        <p14:creationId xmlns:p14="http://schemas.microsoft.com/office/powerpoint/2010/main" val="57360125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F1BB9D-9F23-36AA-7876-D439C1B2DA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1E1D68-96AC-2903-C093-BA55A4526C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15352B-E242-04EE-74BE-631829729A3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Pancreatic Ductal Adenocarcinoma is the most common subtype of pancreatic cancer, constituting about 90% of all pancreatic cancer. PDAC is the third leading cause of cancer-related deaths in the U.S., with a 5-year survival rate of only 13.3%. It is also known to have extremely poor prognosis, with nearly 90% of tumors already metastasized at diagnosis.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PDAC begins in the epithelial cells lining the pancreatic ducts, which are normally responsible for regulating secretion of digestive enzymes into the small intestine. In PDAC, these cells acquire mutations that cause them to proliferate uncontrollably and eventually rupture the ductal membrane. After spreading into the stroma, cancer-associated fibroblasts develop dense networks of collogen fibers, known as desmoplasia, around the previous pancreatic ducts. This creates almost like a shield around the tumor, protecting it from immune attack and drug penetration.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Pancreatic ductal adenocarcinoma is the most common subtype of pancreatic cancer, with a 5 year survival rate of only 13%. The low survival rate is thought to be due to multiple challenges to treatment such as the difficulty of detecting PDAC before it has metastasized. (add graphic) A hallmark of PDAC is what’s called a “desmoplastic” tumor microenvironment. Compared to healthy tissue on the left, PDAC on the right has masses of cell growth in places that used to be healthy ducts, and is infiltrated by a greater diversity of immune and stromal cells while being crisscrossed and encapsulated in this network of collagen fibers, which are deposited by cancer-associated fibroblasts. </a:t>
            </a:r>
            <a:r>
              <a:rPr lang="en-US" sz="1200" dirty="0"/>
              <a:t>The dense fibrotic network of collagen is referred to as desmoplasia and is seen in certain types of tumors.</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Those immune cells that are found in this microenvironment are often suppressive such as T regulatory cells and suppressive macrophages. Some of the immune cells are “residents” that were probably there in the healthy tissue, but others are recruited from the periphery (</a:t>
            </a:r>
            <a:r>
              <a:rPr lang="en-US" dirty="0" err="1"/>
              <a:t>BM+blood</a:t>
            </a:r>
            <a:r>
              <a:rPr lang="en-US" dirty="0"/>
              <a:t>)</a:t>
            </a:r>
          </a:p>
          <a:p>
            <a:endParaRPr lang="en-US" dirty="0"/>
          </a:p>
        </p:txBody>
      </p:sp>
      <p:sp>
        <p:nvSpPr>
          <p:cNvPr id="4" name="Slide Number Placeholder 3">
            <a:extLst>
              <a:ext uri="{FF2B5EF4-FFF2-40B4-BE49-F238E27FC236}">
                <a16:creationId xmlns:a16="http://schemas.microsoft.com/office/drawing/2014/main" id="{172E00C3-B313-DBED-4517-12CCD38F7A7B}"/>
              </a:ext>
            </a:extLst>
          </p:cNvPr>
          <p:cNvSpPr>
            <a:spLocks noGrp="1"/>
          </p:cNvSpPr>
          <p:nvPr>
            <p:ph type="sldNum" sz="quarter" idx="5"/>
          </p:nvPr>
        </p:nvSpPr>
        <p:spPr/>
        <p:txBody>
          <a:bodyPr/>
          <a:lstStyle/>
          <a:p>
            <a:fld id="{B314B106-72D9-394B-AE7F-13630EA62899}" type="slidenum">
              <a:rPr lang="en-US" smtClean="0"/>
              <a:t>21</a:t>
            </a:fld>
            <a:endParaRPr lang="en-US"/>
          </a:p>
        </p:txBody>
      </p:sp>
    </p:spTree>
    <p:extLst>
      <p:ext uri="{BB962C8B-B14F-4D97-AF65-F5344CB8AC3E}">
        <p14:creationId xmlns:p14="http://schemas.microsoft.com/office/powerpoint/2010/main" val="273441171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D59404-1B99-A960-8E16-A2AC01F74E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42209C-4D7D-6791-34F7-75AC6BD0BC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4E30B8-F743-33AD-F835-20924D0C3FD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Pancreatic Ductal Adenocarcinoma is the most common subtype of pancreatic cancer, constituting about 90% of all pancreatic cancer. PDAC is the third leading cause of cancer-related deaths in the U.S., with a 5-year survival rate of only 13.3%. It is also known to have extremely poor prognosis, with nearly 90% of tumors already metastasized at diagnosis.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PDAC begins in the epithelial cells lining the pancreatic ducts, which are normally responsible for regulating secretion of digestive enzymes into the small intestine. In PDAC, these cells acquire mutations that cause them to proliferate uncontrollably and eventually rupture the ductal membrane. After spreading into the stroma, cancer-associated fibroblasts develop dense networks of collogen fibers, known as desmoplasia, around the previous pancreatic ducts. This creates almost like a shield around the tumor, protecting it from immune attack and drug penetration.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Pancreatic ductal adenocarcinoma is the most common subtype of pancreatic cancer, with a 5 year survival rate of only 13%. The low survival rate is thought to be due to multiple challenges to treatment such as the difficulty of detecting PDAC before it has metastasized. (add graphic) A hallmark of PDAC is what’s called a “desmoplastic” tumor microenvironment. Compared to healthy tissue on the left, PDAC on the right has masses of cell growth in places that used to be healthy ducts, and is infiltrated by a greater diversity of immune and stromal cells while being crisscrossed and encapsulated in this network of collagen fibers, which are deposited by cancer-associated fibroblasts. </a:t>
            </a:r>
            <a:r>
              <a:rPr lang="en-US" sz="1200" dirty="0"/>
              <a:t>The dense fibrotic network of collagen is referred to as desmoplasia and is seen in certain types of tumors.</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Those immune cells that are found in this microenvironment are often suppressive such as T regulatory cells and suppressive macrophages. Some of the immune cells are “residents” that were probably there in the healthy tissue, but others are recruited from the periphery (</a:t>
            </a:r>
            <a:r>
              <a:rPr lang="en-US" dirty="0" err="1"/>
              <a:t>BM+blood</a:t>
            </a:r>
            <a:r>
              <a:rPr lang="en-US" dirty="0"/>
              <a:t>)</a:t>
            </a:r>
          </a:p>
          <a:p>
            <a:endParaRPr lang="en-US" dirty="0"/>
          </a:p>
        </p:txBody>
      </p:sp>
      <p:sp>
        <p:nvSpPr>
          <p:cNvPr id="4" name="Slide Number Placeholder 3">
            <a:extLst>
              <a:ext uri="{FF2B5EF4-FFF2-40B4-BE49-F238E27FC236}">
                <a16:creationId xmlns:a16="http://schemas.microsoft.com/office/drawing/2014/main" id="{7BBB98FC-CFA5-267A-ADC6-F5ED56546EA1}"/>
              </a:ext>
            </a:extLst>
          </p:cNvPr>
          <p:cNvSpPr>
            <a:spLocks noGrp="1"/>
          </p:cNvSpPr>
          <p:nvPr>
            <p:ph type="sldNum" sz="quarter" idx="5"/>
          </p:nvPr>
        </p:nvSpPr>
        <p:spPr/>
        <p:txBody>
          <a:bodyPr/>
          <a:lstStyle/>
          <a:p>
            <a:fld id="{B314B106-72D9-394B-AE7F-13630EA62899}" type="slidenum">
              <a:rPr lang="en-US" smtClean="0"/>
              <a:t>24</a:t>
            </a:fld>
            <a:endParaRPr lang="en-US"/>
          </a:p>
        </p:txBody>
      </p:sp>
    </p:spTree>
    <p:extLst>
      <p:ext uri="{BB962C8B-B14F-4D97-AF65-F5344CB8AC3E}">
        <p14:creationId xmlns:p14="http://schemas.microsoft.com/office/powerpoint/2010/main" val="402662293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4EC56-AFAE-F18F-1E8C-408608FDA2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032774-FD00-A898-773B-E5E830545C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3D35C8-213F-6A0C-7B29-E893E243489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Pancreatic Ductal Adenocarcinoma is the most common subtype of pancreatic cancer, constituting about 90% of all pancreatic cancer. PDAC is the third leading cause of cancer-related deaths in the U.S., with a 5-year survival rate of only 13.3%. It is also known to have extremely poor prognosis, with nearly 90% of tumors already metastasized at diagnosis.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PDAC begins in the epithelial cells lining the pancreatic ducts, which are normally responsible for regulating secretion of digestive enzymes into the small intestine. In PDAC, these cells acquire mutations that cause them to proliferate uncontrollably and eventually rupture the ductal membrane. After spreading into the stroma, cancer-associated fibroblasts develop dense networks of collogen fibers, known as desmoplasia, around the previous pancreatic ducts. This creates almost like a shield around the tumor, protecting it from immune attack and drug penetration.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Pancreatic ductal adenocarcinoma is the most common subtype of pancreatic cancer, with a 5 year survival rate of only 13%. The low survival rate is thought to be due to multiple challenges to treatment such as the difficulty of detecting PDAC before it has metastasized. (add graphic) A hallmark of PDAC is what’s called a “desmoplastic” tumor microenvironment. Compared to healthy tissue on the left, PDAC on the right has masses of cell growth in places that used to be healthy ducts, and is infiltrated by a greater diversity of immune and stromal cells while being crisscrossed and encapsulated in this network of collagen fibers, which are deposited by cancer-associated fibroblasts. </a:t>
            </a:r>
            <a:r>
              <a:rPr lang="en-US" sz="1200" dirty="0"/>
              <a:t>The dense fibrotic network of collagen is referred to as desmoplasia and is seen in certain types of tumors.</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Those immune cells that are found in this microenvironment are often suppressive such as T regulatory cells and suppressive macrophages. Some of the immune cells are “residents” that were probably there in the healthy tissue, but others are recruited from the periphery (</a:t>
            </a:r>
            <a:r>
              <a:rPr lang="en-US" dirty="0" err="1"/>
              <a:t>BM+blood</a:t>
            </a:r>
            <a:r>
              <a:rPr lang="en-US" dirty="0"/>
              <a:t>)</a:t>
            </a:r>
          </a:p>
          <a:p>
            <a:endParaRPr lang="en-US" dirty="0"/>
          </a:p>
        </p:txBody>
      </p:sp>
      <p:sp>
        <p:nvSpPr>
          <p:cNvPr id="4" name="Slide Number Placeholder 3">
            <a:extLst>
              <a:ext uri="{FF2B5EF4-FFF2-40B4-BE49-F238E27FC236}">
                <a16:creationId xmlns:a16="http://schemas.microsoft.com/office/drawing/2014/main" id="{6E55EE81-CD43-E77B-9DEA-3DD6425A373B}"/>
              </a:ext>
            </a:extLst>
          </p:cNvPr>
          <p:cNvSpPr>
            <a:spLocks noGrp="1"/>
          </p:cNvSpPr>
          <p:nvPr>
            <p:ph type="sldNum" sz="quarter" idx="5"/>
          </p:nvPr>
        </p:nvSpPr>
        <p:spPr/>
        <p:txBody>
          <a:bodyPr/>
          <a:lstStyle/>
          <a:p>
            <a:fld id="{B314B106-72D9-394B-AE7F-13630EA62899}" type="slidenum">
              <a:rPr lang="en-US" smtClean="0"/>
              <a:t>25</a:t>
            </a:fld>
            <a:endParaRPr lang="en-US"/>
          </a:p>
        </p:txBody>
      </p:sp>
    </p:spTree>
    <p:extLst>
      <p:ext uri="{BB962C8B-B14F-4D97-AF65-F5344CB8AC3E}">
        <p14:creationId xmlns:p14="http://schemas.microsoft.com/office/powerpoint/2010/main" val="59952105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3D039-964B-E307-68E8-10B4EF367A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7024BA-25E5-F419-394F-8956BBD1AA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C2B632-DB1B-C1F8-770B-476CACE5B8F2}"/>
              </a:ext>
            </a:extLst>
          </p:cNvPr>
          <p:cNvSpPr>
            <a:spLocks noGrp="1"/>
          </p:cNvSpPr>
          <p:nvPr>
            <p:ph type="body" idx="1"/>
          </p:nvPr>
        </p:nvSpPr>
        <p:spPr/>
        <p:txBody>
          <a:bodyPr/>
          <a:lstStyle/>
          <a:p>
            <a:r>
              <a:rPr lang="en-US" dirty="0"/>
              <a:t>Imagine you have a map of the pancreatic tissue. The level-set method works by assigning a number to every single point on this map based on its location relative to the duct's boundary </a:t>
            </a:r>
          </a:p>
          <a:p>
            <a:endParaRPr lang="en-US" dirty="0"/>
          </a:p>
          <a:p>
            <a:endParaRPr lang="en-US" dirty="0"/>
          </a:p>
        </p:txBody>
      </p:sp>
      <p:sp>
        <p:nvSpPr>
          <p:cNvPr id="4" name="Slide Number Placeholder 3">
            <a:extLst>
              <a:ext uri="{FF2B5EF4-FFF2-40B4-BE49-F238E27FC236}">
                <a16:creationId xmlns:a16="http://schemas.microsoft.com/office/drawing/2014/main" id="{CF7EFD2D-E593-174D-0DDB-A7FF9B869902}"/>
              </a:ext>
            </a:extLst>
          </p:cNvPr>
          <p:cNvSpPr>
            <a:spLocks noGrp="1"/>
          </p:cNvSpPr>
          <p:nvPr>
            <p:ph type="sldNum" sz="quarter" idx="5"/>
          </p:nvPr>
        </p:nvSpPr>
        <p:spPr/>
        <p:txBody>
          <a:bodyPr/>
          <a:lstStyle/>
          <a:p>
            <a:fld id="{B314B106-72D9-394B-AE7F-13630EA62899}" type="slidenum">
              <a:rPr lang="en-US" smtClean="0"/>
              <a:t>26</a:t>
            </a:fld>
            <a:endParaRPr lang="en-US"/>
          </a:p>
        </p:txBody>
      </p:sp>
    </p:spTree>
    <p:extLst>
      <p:ext uri="{BB962C8B-B14F-4D97-AF65-F5344CB8AC3E}">
        <p14:creationId xmlns:p14="http://schemas.microsoft.com/office/powerpoint/2010/main" val="25551369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D6AB24-7B2D-6F80-9DAD-9EB0DFB837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B4FE3D-91E8-0AB9-616D-C5A2A15AAF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E2D426-E0AF-498F-DF32-2B9C66630021}"/>
              </a:ext>
            </a:extLst>
          </p:cNvPr>
          <p:cNvSpPr>
            <a:spLocks noGrp="1"/>
          </p:cNvSpPr>
          <p:nvPr>
            <p:ph type="body" idx="1"/>
          </p:nvPr>
        </p:nvSpPr>
        <p:spPr/>
        <p:txBody>
          <a:bodyPr/>
          <a:lstStyle/>
          <a:p>
            <a:r>
              <a:rPr lang="en-US" b="1" dirty="0"/>
              <a:t>∂𝜙/∂t</a:t>
            </a:r>
            <a:r>
              <a:rPr lang="en-US" dirty="0"/>
              <a:t>: This part represents how our map changes at a fixed point in time. It's the "update" to our map that we need to calculate. </a:t>
            </a:r>
          </a:p>
          <a:p>
            <a:r>
              <a:rPr lang="en-US" b="1" dirty="0"/>
              <a:t>V</a:t>
            </a:r>
            <a:r>
              <a:rPr lang="en-US" dirty="0"/>
              <a:t>: This is the speed at which the boundary is moving at that point. </a:t>
            </a:r>
          </a:p>
          <a:p>
            <a:r>
              <a:rPr lang="en-US" b="1" dirty="0"/>
              <a:t>|∇𝜙|</a:t>
            </a:r>
            <a:r>
              <a:rPr lang="en-US" dirty="0"/>
              <a:t>: This part represents the direction the boundary is moving (straight out, perpendicular to the shoreline). </a:t>
            </a:r>
          </a:p>
          <a:p>
            <a:endParaRPr lang="en-US" dirty="0"/>
          </a:p>
          <a:p>
            <a:r>
              <a:rPr lang="en-US" dirty="0"/>
              <a:t>So, the equation simply says: </a:t>
            </a:r>
            <a:r>
              <a:rPr lang="en-US" b="1" dirty="0"/>
              <a:t>The rate we update our map (∂𝜙/∂t) must be equal to the negative of the speed (V) at which the boundary is moving.</a:t>
            </a:r>
            <a:endParaRPr lang="en-US" dirty="0"/>
          </a:p>
          <a:p>
            <a:endParaRPr lang="en-US" dirty="0"/>
          </a:p>
        </p:txBody>
      </p:sp>
      <p:sp>
        <p:nvSpPr>
          <p:cNvPr id="4" name="Slide Number Placeholder 3">
            <a:extLst>
              <a:ext uri="{FF2B5EF4-FFF2-40B4-BE49-F238E27FC236}">
                <a16:creationId xmlns:a16="http://schemas.microsoft.com/office/drawing/2014/main" id="{D80CD48B-5625-B88E-530A-AB3E5708A779}"/>
              </a:ext>
            </a:extLst>
          </p:cNvPr>
          <p:cNvSpPr>
            <a:spLocks noGrp="1"/>
          </p:cNvSpPr>
          <p:nvPr>
            <p:ph type="sldNum" sz="quarter" idx="5"/>
          </p:nvPr>
        </p:nvSpPr>
        <p:spPr/>
        <p:txBody>
          <a:bodyPr/>
          <a:lstStyle/>
          <a:p>
            <a:fld id="{B314B106-72D9-394B-AE7F-13630EA62899}" type="slidenum">
              <a:rPr lang="en-US" smtClean="0"/>
              <a:t>27</a:t>
            </a:fld>
            <a:endParaRPr lang="en-US"/>
          </a:p>
        </p:txBody>
      </p:sp>
    </p:spTree>
    <p:extLst>
      <p:ext uri="{BB962C8B-B14F-4D97-AF65-F5344CB8AC3E}">
        <p14:creationId xmlns:p14="http://schemas.microsoft.com/office/powerpoint/2010/main" val="38170576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3063857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a:prstGeom prst="rect">
            <a:avLst/>
          </a:prstGeo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3602037"/>
            <a:ext cx="6858000" cy="1655763"/>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Tree>
    <p:extLst>
      <p:ext uri="{BB962C8B-B14F-4D97-AF65-F5344CB8AC3E}">
        <p14:creationId xmlns:p14="http://schemas.microsoft.com/office/powerpoint/2010/main" val="15792093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2B799761-2EBC-ED48-8421-93C3DA969FB7}" type="datetimeFigureOut">
              <a:rPr lang="en-US" smtClean="0"/>
              <a:pPr/>
              <a:t>3/19/26</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4014C056-413C-A641-A0AD-03006F1178CB}" type="slidenum">
              <a:rPr lang="en-US" smtClean="0"/>
              <a:pPr/>
              <a:t>‹#›</a:t>
            </a:fld>
            <a:endParaRPr lang="en-US"/>
          </a:p>
        </p:txBody>
      </p:sp>
    </p:spTree>
    <p:extLst>
      <p:ext uri="{BB962C8B-B14F-4D97-AF65-F5344CB8AC3E}">
        <p14:creationId xmlns:p14="http://schemas.microsoft.com/office/powerpoint/2010/main" val="125403160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0F76AEE-5F7C-0C4E-AB7D-BADB32FF08A3}" type="datetimeFigureOut">
              <a:rPr lang="en-US" smtClean="0"/>
              <a:pPr/>
              <a:t>3/19/26</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D713DF9-231C-E84E-B773-EA564B7737D7}" type="slidenum">
              <a:rPr lang="en-US" smtClean="0"/>
              <a:pPr/>
              <a:t>‹#›</a:t>
            </a:fld>
            <a:endParaRPr lang="en-US"/>
          </a:p>
        </p:txBody>
      </p:sp>
      <p:pic>
        <p:nvPicPr>
          <p:cNvPr id="7" name="Picture 6">
            <a:extLst>
              <a:ext uri="{FF2B5EF4-FFF2-40B4-BE49-F238E27FC236}">
                <a16:creationId xmlns:a16="http://schemas.microsoft.com/office/drawing/2014/main" id="{F5B8CDBB-FC5A-B9B0-4998-160B71ADB35F}"/>
              </a:ext>
            </a:extLst>
          </p:cNvPr>
          <p:cNvPicPr>
            <a:picLocks noChangeAspect="1"/>
          </p:cNvPicPr>
          <p:nvPr userDrawn="1"/>
        </p:nvPicPr>
        <p:blipFill>
          <a:blip r:embed="rId3"/>
          <a:stretch>
            <a:fillRect/>
          </a:stretch>
        </p:blipFill>
        <p:spPr>
          <a:xfrm>
            <a:off x="0" y="0"/>
            <a:ext cx="9144000" cy="6858000"/>
          </a:xfrm>
          <a:prstGeom prst="rect">
            <a:avLst/>
          </a:prstGeom>
        </p:spPr>
      </p:pic>
      <p:sp>
        <p:nvSpPr>
          <p:cNvPr id="9" name="Rectangle 8">
            <a:extLst>
              <a:ext uri="{FF2B5EF4-FFF2-40B4-BE49-F238E27FC236}">
                <a16:creationId xmlns:a16="http://schemas.microsoft.com/office/drawing/2014/main" id="{12D53516-B803-A90F-456A-188118811DC9}"/>
              </a:ext>
            </a:extLst>
          </p:cNvPr>
          <p:cNvSpPr/>
          <p:nvPr userDrawn="1"/>
        </p:nvSpPr>
        <p:spPr>
          <a:xfrm>
            <a:off x="81280" y="5955665"/>
            <a:ext cx="1981200" cy="765811"/>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0" name="Picture 9" descr="UMB SOM logo">
            <a:extLst>
              <a:ext uri="{FF2B5EF4-FFF2-40B4-BE49-F238E27FC236}">
                <a16:creationId xmlns:a16="http://schemas.microsoft.com/office/drawing/2014/main" id="{2206DAD5-CED7-A36A-9A85-A19B6228BB32}"/>
              </a:ext>
            </a:extLst>
          </p:cNvPr>
          <p:cNvPicPr>
            <a:picLocks noChangeAspect="1"/>
          </p:cNvPicPr>
          <p:nvPr userDrawn="1"/>
        </p:nvPicPr>
        <p:blipFill>
          <a:blip r:embed="rId4"/>
          <a:stretch>
            <a:fillRect/>
          </a:stretch>
        </p:blipFill>
        <p:spPr>
          <a:xfrm>
            <a:off x="285750" y="6065045"/>
            <a:ext cx="2204720" cy="579120"/>
          </a:xfrm>
          <a:prstGeom prst="rect">
            <a:avLst/>
          </a:prstGeom>
        </p:spPr>
      </p:pic>
    </p:spTree>
    <p:extLst>
      <p:ext uri="{BB962C8B-B14F-4D97-AF65-F5344CB8AC3E}">
        <p14:creationId xmlns:p14="http://schemas.microsoft.com/office/powerpoint/2010/main" val="2777251449"/>
      </p:ext>
    </p:extLst>
  </p:cSld>
  <p:clrMap bg1="lt1" tx1="dk1" bg2="lt2" tx2="dk2" accent1="accent1" accent2="accent2" accent3="accent3" accent4="accent4" accent5="accent5" accent6="accent6" hlink="hlink" folHlink="folHlink"/>
  <p:sldLayoutIdLst>
    <p:sldLayoutId id="214748367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0B8D7DAD-B32E-AC43-9C03-F04068BB252F}"/>
              </a:ext>
            </a:extLst>
          </p:cNvPr>
          <p:cNvPicPr>
            <a:picLocks noChangeAspect="1"/>
          </p:cNvPicPr>
          <p:nvPr userDrawn="1"/>
        </p:nvPicPr>
        <p:blipFill>
          <a:blip r:embed="rId4"/>
          <a:stretch>
            <a:fillRect/>
          </a:stretch>
        </p:blipFill>
        <p:spPr>
          <a:xfrm>
            <a:off x="0" y="0"/>
            <a:ext cx="9144000" cy="6858000"/>
          </a:xfrm>
          <a:prstGeom prst="rect">
            <a:avLst/>
          </a:prstGeom>
        </p:spPr>
      </p:pic>
      <p:sp>
        <p:nvSpPr>
          <p:cNvPr id="3" name="Text Placeholder 2"/>
          <p:cNvSpPr>
            <a:spLocks noGrp="1"/>
          </p:cNvSpPr>
          <p:nvPr>
            <p:ph type="body" idx="1"/>
          </p:nvPr>
        </p:nvSpPr>
        <p:spPr>
          <a:xfrm>
            <a:off x="628650" y="1825625"/>
            <a:ext cx="7886700" cy="340677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6">
            <a:extLst>
              <a:ext uri="{FF2B5EF4-FFF2-40B4-BE49-F238E27FC236}">
                <a16:creationId xmlns:a16="http://schemas.microsoft.com/office/drawing/2014/main" id="{C9D31B73-2BAD-3AC6-B896-C76B4E467EE0}"/>
              </a:ext>
            </a:extLst>
          </p:cNvPr>
          <p:cNvSpPr/>
          <p:nvPr userDrawn="1"/>
        </p:nvSpPr>
        <p:spPr>
          <a:xfrm>
            <a:off x="325120" y="5689600"/>
            <a:ext cx="1950720" cy="77216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1" name="Title Placeholder 10">
            <a:extLst>
              <a:ext uri="{FF2B5EF4-FFF2-40B4-BE49-F238E27FC236}">
                <a16:creationId xmlns:a16="http://schemas.microsoft.com/office/drawing/2014/main" id="{855A138D-ACB1-D28D-AAA0-2FDAE0DD79C8}"/>
              </a:ext>
            </a:extLst>
          </p:cNvPr>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p>
        </p:txBody>
      </p:sp>
      <p:pic>
        <p:nvPicPr>
          <p:cNvPr id="12" name="Picture 11">
            <a:extLst>
              <a:ext uri="{FF2B5EF4-FFF2-40B4-BE49-F238E27FC236}">
                <a16:creationId xmlns:a16="http://schemas.microsoft.com/office/drawing/2014/main" id="{C8D82E1A-E9BD-B3D5-34A0-FB18FC9022D4}"/>
              </a:ext>
            </a:extLst>
          </p:cNvPr>
          <p:cNvPicPr>
            <a:picLocks noChangeAspect="1"/>
          </p:cNvPicPr>
          <p:nvPr userDrawn="1"/>
        </p:nvPicPr>
        <p:blipFill>
          <a:blip r:embed="rId5"/>
          <a:srcRect/>
          <a:stretch/>
        </p:blipFill>
        <p:spPr>
          <a:xfrm>
            <a:off x="396240" y="5839797"/>
            <a:ext cx="2204720" cy="578739"/>
          </a:xfrm>
          <a:prstGeom prst="rect">
            <a:avLst/>
          </a:prstGeom>
        </p:spPr>
      </p:pic>
    </p:spTree>
    <p:extLst>
      <p:ext uri="{BB962C8B-B14F-4D97-AF65-F5344CB8AC3E}">
        <p14:creationId xmlns:p14="http://schemas.microsoft.com/office/powerpoint/2010/main" val="2436198345"/>
      </p:ext>
    </p:extLst>
  </p:cSld>
  <p:clrMap bg1="lt1" tx1="dk1" bg2="lt2" tx2="dk2" accent1="accent1" accent2="accent2" accent3="accent3" accent4="accent4" accent5="accent5" accent6="accent6" hlink="hlink" folHlink="folHlink"/>
  <p:sldLayoutIdLst>
    <p:sldLayoutId id="2147483675" r:id="rId1"/>
    <p:sldLayoutId id="2147483676" r:id="rId2"/>
  </p:sldLayoutIdLst>
  <p:txStyles>
    <p:titleStyle>
      <a:lvl1pPr algn="l" defTabSz="685800" rtl="0" eaLnBrk="1" latinLnBrk="0" hangingPunct="1">
        <a:lnSpc>
          <a:spcPct val="90000"/>
        </a:lnSpc>
        <a:spcBef>
          <a:spcPct val="0"/>
        </a:spcBef>
        <a:buNone/>
        <a:defRPr sz="3300" b="0" i="0" kern="1200">
          <a:solidFill>
            <a:schemeClr val="tx1"/>
          </a:solidFill>
          <a:latin typeface="+mn-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b="0" i="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b="0" i="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hyperlink" Target="https://doi.org/10.1126/sciadv.ado5103"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2.png"/><Relationship Id="rId2" Type="http://schemas.microsoft.com/office/2007/relationships/media" Target="../media/media2.mp4"/><Relationship Id="rId1" Type="http://schemas.openxmlformats.org/officeDocument/2006/relationships/video" Target="NULL" TargetMode="Externa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5.png"/><Relationship Id="rId2" Type="http://schemas.microsoft.com/office/2007/relationships/media" Target="../media/media3.mp4"/><Relationship Id="rId1" Type="http://schemas.openxmlformats.org/officeDocument/2006/relationships/video" Target="NULL" TargetMode="Externa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8.png"/><Relationship Id="rId2" Type="http://schemas.microsoft.com/office/2007/relationships/media" Target="../media/media4.mp4"/><Relationship Id="rId1" Type="http://schemas.openxmlformats.org/officeDocument/2006/relationships/video" Target="NULL" TargetMode="Externa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170.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microsoft.com/office/2007/relationships/media" Target="../media/media5.mp4"/><Relationship Id="rId1" Type="http://schemas.openxmlformats.org/officeDocument/2006/relationships/video" Target="NULL" TargetMode="External"/><Relationship Id="rId5" Type="http://schemas.openxmlformats.org/officeDocument/2006/relationships/image" Target="../media/image24.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microsoft.com/office/2007/relationships/media" Target="../media/media6.mp4"/><Relationship Id="rId1" Type="http://schemas.openxmlformats.org/officeDocument/2006/relationships/video" Target="NULL" TargetMode="External"/><Relationship Id="rId5" Type="http://schemas.openxmlformats.org/officeDocument/2006/relationships/image" Target="../media/image25.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microsoft.com/office/2007/relationships/media" Target="../media/media7.mp4"/><Relationship Id="rId1" Type="http://schemas.openxmlformats.org/officeDocument/2006/relationships/video" Target="NULL" TargetMode="External"/><Relationship Id="rId5" Type="http://schemas.openxmlformats.org/officeDocument/2006/relationships/image" Target="../media/image26.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microsoft.com/office/2007/relationships/media" Target="../media/media7.mp4"/><Relationship Id="rId1" Type="http://schemas.openxmlformats.org/officeDocument/2006/relationships/video" Target="NULL" TargetMode="External"/><Relationship Id="rId6" Type="http://schemas.openxmlformats.org/officeDocument/2006/relationships/image" Target="../media/image6.jpg"/><Relationship Id="rId5" Type="http://schemas.openxmlformats.org/officeDocument/2006/relationships/image" Target="../media/image27.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8" Type="http://schemas.openxmlformats.org/officeDocument/2006/relationships/image" Target="../media/image29.png"/><Relationship Id="rId3" Type="http://schemas.microsoft.com/office/2007/relationships/media" Target="../media/media9.mp4"/><Relationship Id="rId7" Type="http://schemas.openxmlformats.org/officeDocument/2006/relationships/image" Target="../media/image28.png"/><Relationship Id="rId2" Type="http://schemas.openxmlformats.org/officeDocument/2006/relationships/video" Target="../media/media8.mp4"/><Relationship Id="rId1" Type="http://schemas.microsoft.com/office/2007/relationships/media" Target="../media/media8.mp4"/><Relationship Id="rId6" Type="http://schemas.openxmlformats.org/officeDocument/2006/relationships/notesSlide" Target="../notesSlides/notesSlide20.xml"/><Relationship Id="rId5" Type="http://schemas.openxmlformats.org/officeDocument/2006/relationships/slideLayout" Target="../slideLayouts/slideLayout3.xml"/><Relationship Id="rId4" Type="http://schemas.openxmlformats.org/officeDocument/2006/relationships/video" Target="../media/media9.mp4"/></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hyperlink" Target="https://doi.org/10.1126/sciadv.ado5103" TargetMode="External"/><Relationship Id="rId2" Type="http://schemas.openxmlformats.org/officeDocument/2006/relationships/notesSlide" Target="../notesSlides/notesSlide23.xml"/><Relationship Id="rId1" Type="http://schemas.openxmlformats.org/officeDocument/2006/relationships/slideLayout" Target="../slideLayouts/slideLayout3.xml"/><Relationship Id="rId4" Type="http://schemas.openxmlformats.org/officeDocument/2006/relationships/hyperlink" Target="https://dx.doi.org/10.1371/journal.pcbi.1005991" TargetMode="External"/></Relationships>
</file>

<file path=ppt/slides/_rels/slide26.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24.xml"/><Relationship Id="rId1" Type="http://schemas.openxmlformats.org/officeDocument/2006/relationships/slideLayout" Target="../slideLayouts/slideLayout3.xml"/><Relationship Id="rId4" Type="http://schemas.openxmlformats.org/officeDocument/2006/relationships/image" Target="../media/image30.png"/></Relationships>
</file>

<file path=ppt/slides/_rels/slide27.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25.xml"/><Relationship Id="rId1" Type="http://schemas.openxmlformats.org/officeDocument/2006/relationships/slideLayout" Target="../slideLayouts/slideLayout3.xml"/><Relationship Id="rId4" Type="http://schemas.openxmlformats.org/officeDocument/2006/relationships/image" Target="../media/image13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13569E-614C-4CFA-A1B7-BEDE810F5AEE}"/>
              </a:ext>
            </a:extLst>
          </p:cNvPr>
          <p:cNvSpPr>
            <a:spLocks noGrp="1"/>
          </p:cNvSpPr>
          <p:nvPr>
            <p:ph type="ctrTitle"/>
          </p:nvPr>
        </p:nvSpPr>
        <p:spPr>
          <a:xfrm>
            <a:off x="603662" y="849975"/>
            <a:ext cx="7658596" cy="2203244"/>
          </a:xfrm>
        </p:spPr>
        <p:txBody>
          <a:bodyPr>
            <a:noAutofit/>
          </a:bodyPr>
          <a:lstStyle/>
          <a:p>
            <a:r>
              <a:rPr lang="en-US" sz="4000" dirty="0">
                <a:solidFill>
                  <a:srgbClr val="C00000"/>
                </a:solidFill>
                <a:latin typeface="Helvetica" pitchFamily="2" charset="0"/>
                <a:cs typeface="Arial" panose="020B0604020202020204" pitchFamily="34" charset="0"/>
              </a:rPr>
              <a:t>Agent-Based Modeling of the Ductal Structure in Pancreatic Precancer</a:t>
            </a:r>
          </a:p>
        </p:txBody>
      </p:sp>
      <p:sp>
        <p:nvSpPr>
          <p:cNvPr id="3" name="Subtitle 2">
            <a:extLst>
              <a:ext uri="{FF2B5EF4-FFF2-40B4-BE49-F238E27FC236}">
                <a16:creationId xmlns:a16="http://schemas.microsoft.com/office/drawing/2014/main" id="{643A3B34-95E0-433B-8908-DFF0FAD5B3B2}"/>
              </a:ext>
            </a:extLst>
          </p:cNvPr>
          <p:cNvSpPr>
            <a:spLocks noGrp="1"/>
          </p:cNvSpPr>
          <p:nvPr>
            <p:ph type="subTitle" idx="1"/>
          </p:nvPr>
        </p:nvSpPr>
        <p:spPr>
          <a:xfrm>
            <a:off x="1143000" y="3429000"/>
            <a:ext cx="6858000" cy="2203244"/>
          </a:xfrm>
        </p:spPr>
        <p:txBody>
          <a:bodyPr>
            <a:noAutofit/>
          </a:bodyPr>
          <a:lstStyle/>
          <a:p>
            <a:r>
              <a:rPr lang="en-US" sz="2800" dirty="0">
                <a:solidFill>
                  <a:schemeClr val="tx2">
                    <a:lumMod val="60000"/>
                    <a:lumOff val="40000"/>
                  </a:schemeClr>
                </a:solidFill>
                <a:latin typeface="Arial" panose="020B0604020202020204" pitchFamily="34" charset="0"/>
                <a:cs typeface="Arial" panose="020B0604020202020204" pitchFamily="34" charset="0"/>
              </a:rPr>
              <a:t>Cameron Yeagle</a:t>
            </a:r>
          </a:p>
          <a:p>
            <a:endParaRPr lang="en-US" sz="2800" dirty="0">
              <a:solidFill>
                <a:schemeClr val="tx2">
                  <a:lumMod val="60000"/>
                  <a:lumOff val="40000"/>
                </a:schemeClr>
              </a:solidFill>
              <a:latin typeface="Arial" panose="020B0604020202020204" pitchFamily="34" charset="0"/>
              <a:cs typeface="Arial" panose="020B0604020202020204" pitchFamily="34" charset="0"/>
            </a:endParaRPr>
          </a:p>
          <a:p>
            <a:r>
              <a:rPr lang="en-US" sz="2800" dirty="0">
                <a:solidFill>
                  <a:schemeClr val="tx2">
                    <a:lumMod val="60000"/>
                    <a:lumOff val="40000"/>
                  </a:schemeClr>
                </a:solidFill>
                <a:latin typeface="Arial" panose="020B0604020202020204" pitchFamily="34" charset="0"/>
                <a:cs typeface="Arial" panose="020B0604020202020204" pitchFamily="34" charset="0"/>
              </a:rPr>
              <a:t>Advisors: Dr. Daniel Bergman</a:t>
            </a:r>
          </a:p>
        </p:txBody>
      </p:sp>
    </p:spTree>
    <p:extLst>
      <p:ext uri="{BB962C8B-B14F-4D97-AF65-F5344CB8AC3E}">
        <p14:creationId xmlns:p14="http://schemas.microsoft.com/office/powerpoint/2010/main" val="38921169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34D56-3BFF-5584-DDB1-5A58D1B2B250}"/>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219A296F-5798-1D8C-938A-729322E3BEA3}"/>
              </a:ext>
            </a:extLst>
          </p:cNvPr>
          <p:cNvSpPr>
            <a:spLocks noGrp="1"/>
          </p:cNvSpPr>
          <p:nvPr>
            <p:ph type="title"/>
          </p:nvPr>
        </p:nvSpPr>
        <p:spPr>
          <a:xfrm>
            <a:off x="457200" y="350966"/>
            <a:ext cx="7886700" cy="994172"/>
          </a:xfrm>
        </p:spPr>
        <p:txBody>
          <a:bodyPr>
            <a:noAutofit/>
          </a:bodyPr>
          <a:lstStyle/>
          <a:p>
            <a:r>
              <a:rPr lang="en-US" sz="3200" b="1" dirty="0">
                <a:solidFill>
                  <a:srgbClr val="171C8C"/>
                </a:solidFill>
                <a:latin typeface="Arial" panose="020B0604020202020204" pitchFamily="34" charset="0"/>
                <a:cs typeface="Arial" panose="020B0604020202020204" pitchFamily="34" charset="0"/>
              </a:rPr>
              <a:t>Project Goal: Model Ductal Structure</a:t>
            </a:r>
          </a:p>
        </p:txBody>
      </p:sp>
      <p:cxnSp>
        <p:nvCxnSpPr>
          <p:cNvPr id="5" name="Straight Connector 4">
            <a:extLst>
              <a:ext uri="{FF2B5EF4-FFF2-40B4-BE49-F238E27FC236}">
                <a16:creationId xmlns:a16="http://schemas.microsoft.com/office/drawing/2014/main" id="{2554D715-D29D-736A-F8EB-518C7EDBE52A}"/>
              </a:ext>
            </a:extLst>
          </p:cNvPr>
          <p:cNvCxnSpPr/>
          <p:nvPr/>
        </p:nvCxnSpPr>
        <p:spPr>
          <a:xfrm>
            <a:off x="191528" y="1224990"/>
            <a:ext cx="8760941"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pic>
        <p:nvPicPr>
          <p:cNvPr id="7" name="Content Placeholder 6">
            <a:extLst>
              <a:ext uri="{FF2B5EF4-FFF2-40B4-BE49-F238E27FC236}">
                <a16:creationId xmlns:a16="http://schemas.microsoft.com/office/drawing/2014/main" id="{34318FF3-5289-5C7D-4E4B-2DA5BCDFF01B}"/>
              </a:ext>
            </a:extLst>
          </p:cNvPr>
          <p:cNvPicPr>
            <a:picLocks noGrp="1" noChangeAspect="1"/>
          </p:cNvPicPr>
          <p:nvPr>
            <p:ph idx="1"/>
          </p:nvPr>
        </p:nvPicPr>
        <p:blipFill>
          <a:blip r:embed="rId3"/>
          <a:stretch>
            <a:fillRect/>
          </a:stretch>
        </p:blipFill>
        <p:spPr>
          <a:xfrm>
            <a:off x="322764" y="2576749"/>
            <a:ext cx="8498468" cy="2832822"/>
          </a:xfrm>
        </p:spPr>
      </p:pic>
      <p:sp>
        <p:nvSpPr>
          <p:cNvPr id="9" name="Content Placeholder 2">
            <a:extLst>
              <a:ext uri="{FF2B5EF4-FFF2-40B4-BE49-F238E27FC236}">
                <a16:creationId xmlns:a16="http://schemas.microsoft.com/office/drawing/2014/main" id="{59FA1213-51C0-F62D-BC8E-EC98178C4712}"/>
              </a:ext>
            </a:extLst>
          </p:cNvPr>
          <p:cNvSpPr txBox="1">
            <a:spLocks/>
          </p:cNvSpPr>
          <p:nvPr/>
        </p:nvSpPr>
        <p:spPr>
          <a:xfrm>
            <a:off x="457200" y="1788091"/>
            <a:ext cx="8229598" cy="1268260"/>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b="0" i="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b="0" i="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sz="3200" dirty="0"/>
              <a:t>Model the</a:t>
            </a:r>
            <a:r>
              <a:rPr lang="en-US" sz="3200" b="1" dirty="0"/>
              <a:t> </a:t>
            </a:r>
            <a:r>
              <a:rPr lang="en-US" sz="3200" b="1" dirty="0">
                <a:solidFill>
                  <a:schemeClr val="tx2"/>
                </a:solidFill>
              </a:rPr>
              <a:t>evolution</a:t>
            </a:r>
            <a:r>
              <a:rPr lang="en-US" sz="3200" dirty="0"/>
              <a:t> of the pancreatic ducts</a:t>
            </a:r>
          </a:p>
        </p:txBody>
      </p:sp>
      <p:sp>
        <p:nvSpPr>
          <p:cNvPr id="11" name="TextBox 10">
            <a:extLst>
              <a:ext uri="{FF2B5EF4-FFF2-40B4-BE49-F238E27FC236}">
                <a16:creationId xmlns:a16="http://schemas.microsoft.com/office/drawing/2014/main" id="{B7531C0F-B5C2-E44B-42E3-C448A5C70CAB}"/>
              </a:ext>
            </a:extLst>
          </p:cNvPr>
          <p:cNvSpPr txBox="1"/>
          <p:nvPr/>
        </p:nvSpPr>
        <p:spPr>
          <a:xfrm>
            <a:off x="9144000" y="5744575"/>
            <a:ext cx="6084009" cy="830997"/>
          </a:xfrm>
          <a:prstGeom prst="rect">
            <a:avLst/>
          </a:prstGeom>
          <a:noFill/>
        </p:spPr>
        <p:txBody>
          <a:bodyPr wrap="square" rtlCol="0">
            <a:spAutoFit/>
          </a:bodyPr>
          <a:lstStyle/>
          <a:p>
            <a:r>
              <a:rPr lang="en-US" sz="1200" dirty="0" err="1"/>
              <a:t>Kiemen</a:t>
            </a:r>
            <a:r>
              <a:rPr lang="en-US" sz="1200" dirty="0"/>
              <a:t> A, Wu PH, Braxton AM, Cornish TC, </a:t>
            </a:r>
            <a:r>
              <a:rPr lang="en-US" sz="1200" dirty="0" err="1"/>
              <a:t>Hruban</a:t>
            </a:r>
            <a:r>
              <a:rPr lang="en-US" sz="1200" dirty="0"/>
              <a:t> RH, Wood LD, et al. Power‑law growth models explain incidences and sizes of pancreatic cancer precursor lesions and confirm spatial genomic findings. Sci Adv. 2024 Jul 26;10(30):eado5103. DOI: </a:t>
            </a:r>
            <a:r>
              <a:rPr lang="en-US" sz="1200" dirty="0">
                <a:hlinkClick r:id="rId4"/>
              </a:rPr>
              <a:t>https://doi.org/10.1126/sciadv.ado5103</a:t>
            </a:r>
            <a:r>
              <a:rPr lang="en-US" sz="1200" dirty="0"/>
              <a:t>.</a:t>
            </a:r>
          </a:p>
        </p:txBody>
      </p:sp>
      <p:sp>
        <p:nvSpPr>
          <p:cNvPr id="2" name="TextBox 1">
            <a:extLst>
              <a:ext uri="{FF2B5EF4-FFF2-40B4-BE49-F238E27FC236}">
                <a16:creationId xmlns:a16="http://schemas.microsoft.com/office/drawing/2014/main" id="{55002B84-62A7-EC46-FFE0-D3C4AC4A2BA8}"/>
              </a:ext>
            </a:extLst>
          </p:cNvPr>
          <p:cNvSpPr txBox="1"/>
          <p:nvPr/>
        </p:nvSpPr>
        <p:spPr>
          <a:xfrm>
            <a:off x="5788612" y="5620814"/>
            <a:ext cx="3469075" cy="461665"/>
          </a:xfrm>
          <a:prstGeom prst="rect">
            <a:avLst/>
          </a:prstGeom>
          <a:noFill/>
        </p:spPr>
        <p:txBody>
          <a:bodyPr wrap="square" rtlCol="0">
            <a:spAutoFit/>
          </a:bodyPr>
          <a:lstStyle/>
          <a:p>
            <a:r>
              <a:rPr lang="en-US" sz="1200" dirty="0" err="1"/>
              <a:t>Kiemen</a:t>
            </a:r>
            <a:r>
              <a:rPr lang="en-US" sz="1200" dirty="0"/>
              <a:t> A, Wood LD, et al. Sci Adv. 2024 </a:t>
            </a:r>
          </a:p>
          <a:p>
            <a:r>
              <a:rPr lang="en-US" sz="1200" dirty="0"/>
              <a:t>DOI: </a:t>
            </a:r>
            <a:r>
              <a:rPr lang="en-US" sz="1200" dirty="0">
                <a:hlinkClick r:id="rId4"/>
              </a:rPr>
              <a:t>https://doi.org/10.1126/sciadv.ado5103</a:t>
            </a:r>
            <a:r>
              <a:rPr lang="en-US" sz="1200" dirty="0"/>
              <a:t>.</a:t>
            </a:r>
          </a:p>
        </p:txBody>
      </p:sp>
    </p:spTree>
    <p:extLst>
      <p:ext uri="{BB962C8B-B14F-4D97-AF65-F5344CB8AC3E}">
        <p14:creationId xmlns:p14="http://schemas.microsoft.com/office/powerpoint/2010/main" val="25815006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215D06-B2B9-0445-CE72-F17665A7D166}"/>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22E8F477-A9C0-5626-50D2-C3F75BAD36D9}"/>
              </a:ext>
            </a:extLst>
          </p:cNvPr>
          <p:cNvSpPr>
            <a:spLocks noGrp="1"/>
          </p:cNvSpPr>
          <p:nvPr>
            <p:ph type="title"/>
          </p:nvPr>
        </p:nvSpPr>
        <p:spPr>
          <a:xfrm>
            <a:off x="457200" y="265738"/>
            <a:ext cx="7886700" cy="994172"/>
          </a:xfrm>
        </p:spPr>
        <p:txBody>
          <a:bodyPr>
            <a:noAutofit/>
          </a:bodyPr>
          <a:lstStyle/>
          <a:p>
            <a:r>
              <a:rPr lang="en-US" sz="3200" b="1" dirty="0">
                <a:solidFill>
                  <a:srgbClr val="171C8C"/>
                </a:solidFill>
                <a:latin typeface="Arial" panose="020B0604020202020204" pitchFamily="34" charset="0"/>
                <a:cs typeface="Arial" panose="020B0604020202020204" pitchFamily="34" charset="0"/>
              </a:rPr>
              <a:t>Modeling</a:t>
            </a:r>
          </a:p>
        </p:txBody>
      </p:sp>
      <p:cxnSp>
        <p:nvCxnSpPr>
          <p:cNvPr id="5" name="Straight Connector 4">
            <a:extLst>
              <a:ext uri="{FF2B5EF4-FFF2-40B4-BE49-F238E27FC236}">
                <a16:creationId xmlns:a16="http://schemas.microsoft.com/office/drawing/2014/main" id="{7768A16E-89D1-525A-F351-1B24794BCDA4}"/>
              </a:ext>
            </a:extLst>
          </p:cNvPr>
          <p:cNvCxnSpPr/>
          <p:nvPr/>
        </p:nvCxnSpPr>
        <p:spPr>
          <a:xfrm>
            <a:off x="191528" y="1224990"/>
            <a:ext cx="8760941"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
        <p:nvSpPr>
          <p:cNvPr id="9" name="Content Placeholder 2">
            <a:extLst>
              <a:ext uri="{FF2B5EF4-FFF2-40B4-BE49-F238E27FC236}">
                <a16:creationId xmlns:a16="http://schemas.microsoft.com/office/drawing/2014/main" id="{3D3292D9-3B7A-6A68-4C78-7CDB0D6C47C6}"/>
              </a:ext>
            </a:extLst>
          </p:cNvPr>
          <p:cNvSpPr txBox="1">
            <a:spLocks/>
          </p:cNvSpPr>
          <p:nvPr/>
        </p:nvSpPr>
        <p:spPr>
          <a:xfrm>
            <a:off x="457199" y="1788090"/>
            <a:ext cx="3119377" cy="3844911"/>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b="0" i="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b="0" i="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spcAft>
                <a:spcPts val="1200"/>
              </a:spcAft>
            </a:pPr>
            <a:r>
              <a:rPr lang="en-US" sz="3200" dirty="0"/>
              <a:t>Membrane is a </a:t>
            </a:r>
            <a:r>
              <a:rPr lang="en-US" sz="3200" b="1" dirty="0">
                <a:solidFill>
                  <a:schemeClr val="tx2"/>
                </a:solidFill>
              </a:rPr>
              <a:t>dynamic</a:t>
            </a:r>
            <a:r>
              <a:rPr lang="en-US" sz="3200" dirty="0"/>
              <a:t> structure</a:t>
            </a:r>
          </a:p>
          <a:p>
            <a:pPr>
              <a:spcAft>
                <a:spcPts val="1200"/>
              </a:spcAft>
            </a:pPr>
            <a:r>
              <a:rPr lang="en-US" sz="3200" dirty="0"/>
              <a:t>Build </a:t>
            </a:r>
            <a:r>
              <a:rPr lang="en-US" sz="3200" b="1" dirty="0">
                <a:solidFill>
                  <a:schemeClr val="tx2"/>
                </a:solidFill>
              </a:rPr>
              <a:t>cell-membrane</a:t>
            </a:r>
            <a:r>
              <a:rPr lang="en-US" sz="3200" dirty="0"/>
              <a:t> interactions</a:t>
            </a:r>
          </a:p>
          <a:p>
            <a:endParaRPr lang="en-US" sz="3200" dirty="0"/>
          </a:p>
        </p:txBody>
      </p:sp>
      <p:pic>
        <p:nvPicPr>
          <p:cNvPr id="6" name="Content Placeholder 5">
            <a:extLst>
              <a:ext uri="{FF2B5EF4-FFF2-40B4-BE49-F238E27FC236}">
                <a16:creationId xmlns:a16="http://schemas.microsoft.com/office/drawing/2014/main" id="{AD5C535F-AE29-41E4-9135-D7C5E6752DDC}"/>
              </a:ext>
            </a:extLst>
          </p:cNvPr>
          <p:cNvPicPr>
            <a:picLocks noGrp="1" noChangeAspect="1"/>
          </p:cNvPicPr>
          <p:nvPr>
            <p:ph idx="1"/>
          </p:nvPr>
        </p:nvPicPr>
        <p:blipFill>
          <a:blip r:embed="rId3"/>
          <a:stretch>
            <a:fillRect/>
          </a:stretch>
        </p:blipFill>
        <p:spPr>
          <a:xfrm>
            <a:off x="3482236" y="1594579"/>
            <a:ext cx="5204564" cy="4003511"/>
          </a:xfrm>
        </p:spPr>
      </p:pic>
      <p:sp>
        <p:nvSpPr>
          <p:cNvPr id="8" name="TextBox 7">
            <a:extLst>
              <a:ext uri="{FF2B5EF4-FFF2-40B4-BE49-F238E27FC236}">
                <a16:creationId xmlns:a16="http://schemas.microsoft.com/office/drawing/2014/main" id="{C053AD8B-521C-BBED-5B3A-EA9677A202A7}"/>
              </a:ext>
            </a:extLst>
          </p:cNvPr>
          <p:cNvSpPr txBox="1"/>
          <p:nvPr/>
        </p:nvSpPr>
        <p:spPr>
          <a:xfrm>
            <a:off x="4916130" y="5794259"/>
            <a:ext cx="5830866" cy="276999"/>
          </a:xfrm>
          <a:prstGeom prst="rect">
            <a:avLst/>
          </a:prstGeom>
          <a:noFill/>
        </p:spPr>
        <p:txBody>
          <a:bodyPr wrap="square" rtlCol="0">
            <a:spAutoFit/>
          </a:bodyPr>
          <a:lstStyle/>
          <a:p>
            <a:r>
              <a:rPr lang="en-US" sz="1200" dirty="0" err="1"/>
              <a:t>Hruban</a:t>
            </a:r>
            <a:r>
              <a:rPr lang="en-US" sz="1200" dirty="0"/>
              <a:t> RH, et al. Am J Surg </a:t>
            </a:r>
            <a:r>
              <a:rPr lang="en-US" sz="1200" dirty="0" err="1"/>
              <a:t>Pathol</a:t>
            </a:r>
            <a:r>
              <a:rPr lang="en-US" sz="1200" dirty="0"/>
              <a:t>, 2001</a:t>
            </a:r>
          </a:p>
        </p:txBody>
      </p:sp>
    </p:spTree>
    <p:extLst>
      <p:ext uri="{BB962C8B-B14F-4D97-AF65-F5344CB8AC3E}">
        <p14:creationId xmlns:p14="http://schemas.microsoft.com/office/powerpoint/2010/main" val="29126312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D1A48A-8F25-B2AB-40D5-620262D66B20}"/>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1C95EC67-C641-5091-7EC0-DA15C688D1F3}"/>
              </a:ext>
            </a:extLst>
          </p:cNvPr>
          <p:cNvSpPr>
            <a:spLocks noGrp="1"/>
          </p:cNvSpPr>
          <p:nvPr>
            <p:ph type="title"/>
          </p:nvPr>
        </p:nvSpPr>
        <p:spPr>
          <a:xfrm>
            <a:off x="442982" y="347656"/>
            <a:ext cx="7886700" cy="994172"/>
          </a:xfrm>
        </p:spPr>
        <p:txBody>
          <a:bodyPr>
            <a:noAutofit/>
          </a:bodyPr>
          <a:lstStyle/>
          <a:p>
            <a:r>
              <a:rPr lang="en-US" sz="3200" b="1" dirty="0">
                <a:solidFill>
                  <a:srgbClr val="171C8C"/>
                </a:solidFill>
                <a:latin typeface="Arial" panose="020B0604020202020204" pitchFamily="34" charset="0"/>
                <a:cs typeface="Arial" panose="020B0604020202020204" pitchFamily="34" charset="0"/>
              </a:rPr>
              <a:t>Model Mechanics</a:t>
            </a:r>
          </a:p>
        </p:txBody>
      </p:sp>
      <p:cxnSp>
        <p:nvCxnSpPr>
          <p:cNvPr id="5" name="Straight Connector 4">
            <a:extLst>
              <a:ext uri="{FF2B5EF4-FFF2-40B4-BE49-F238E27FC236}">
                <a16:creationId xmlns:a16="http://schemas.microsoft.com/office/drawing/2014/main" id="{6161F00D-CD6D-1275-3333-ED17AE5260BC}"/>
              </a:ext>
            </a:extLst>
          </p:cNvPr>
          <p:cNvCxnSpPr/>
          <p:nvPr/>
        </p:nvCxnSpPr>
        <p:spPr>
          <a:xfrm>
            <a:off x="191528" y="1224990"/>
            <a:ext cx="8760941"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 name="Content Placeholder 2">
            <a:extLst>
              <a:ext uri="{FF2B5EF4-FFF2-40B4-BE49-F238E27FC236}">
                <a16:creationId xmlns:a16="http://schemas.microsoft.com/office/drawing/2014/main" id="{78FC884E-1F88-2B1D-CFE0-2A3B2A6E26B9}"/>
              </a:ext>
            </a:extLst>
          </p:cNvPr>
          <p:cNvSpPr txBox="1">
            <a:spLocks/>
          </p:cNvSpPr>
          <p:nvPr/>
        </p:nvSpPr>
        <p:spPr>
          <a:xfrm>
            <a:off x="442982" y="1637619"/>
            <a:ext cx="3119377" cy="3844911"/>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b="0" i="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b="0" i="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spcAft>
                <a:spcPts val="1200"/>
              </a:spcAft>
            </a:pPr>
            <a:endParaRPr lang="en-US" sz="3200" dirty="0"/>
          </a:p>
          <a:p>
            <a:endParaRPr lang="en-US" sz="3200" dirty="0"/>
          </a:p>
        </p:txBody>
      </p:sp>
      <p:sp>
        <p:nvSpPr>
          <p:cNvPr id="8" name="Content Placeholder 2">
            <a:extLst>
              <a:ext uri="{FF2B5EF4-FFF2-40B4-BE49-F238E27FC236}">
                <a16:creationId xmlns:a16="http://schemas.microsoft.com/office/drawing/2014/main" id="{59126FDC-C344-BEF2-B459-38461DDFF371}"/>
              </a:ext>
            </a:extLst>
          </p:cNvPr>
          <p:cNvSpPr txBox="1">
            <a:spLocks/>
          </p:cNvSpPr>
          <p:nvPr/>
        </p:nvSpPr>
        <p:spPr>
          <a:xfrm>
            <a:off x="289868" y="1788099"/>
            <a:ext cx="3119377" cy="3844911"/>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b="0" i="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b="0" i="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spcAft>
                <a:spcPts val="1200"/>
              </a:spcAft>
            </a:pPr>
            <a:r>
              <a:rPr lang="en-US" sz="3200" dirty="0"/>
              <a:t>Model includes </a:t>
            </a:r>
            <a:r>
              <a:rPr lang="en-US" sz="3200" b="1" dirty="0">
                <a:solidFill>
                  <a:schemeClr val="tx2"/>
                </a:solidFill>
              </a:rPr>
              <a:t>3 main forces</a:t>
            </a:r>
          </a:p>
          <a:p>
            <a:pPr lvl="1">
              <a:spcAft>
                <a:spcPts val="1200"/>
              </a:spcAft>
            </a:pPr>
            <a:r>
              <a:rPr lang="en-US" sz="2900" dirty="0"/>
              <a:t>Each force represents a </a:t>
            </a:r>
            <a:r>
              <a:rPr lang="en-US" sz="2900" b="1" dirty="0">
                <a:solidFill>
                  <a:schemeClr val="tx2"/>
                </a:solidFill>
              </a:rPr>
              <a:t>unique ductal mechanic </a:t>
            </a:r>
          </a:p>
          <a:p>
            <a:endParaRPr lang="en-US" sz="3200" dirty="0"/>
          </a:p>
        </p:txBody>
      </p:sp>
      <p:pic>
        <p:nvPicPr>
          <p:cNvPr id="4" name="Picture 3" descr="A diagram of a cell&#10;&#10;AI-generated content may be incorrect.">
            <a:extLst>
              <a:ext uri="{FF2B5EF4-FFF2-40B4-BE49-F238E27FC236}">
                <a16:creationId xmlns:a16="http://schemas.microsoft.com/office/drawing/2014/main" id="{89584FDC-9517-5BC3-0E6A-5385D721521E}"/>
              </a:ext>
            </a:extLst>
          </p:cNvPr>
          <p:cNvPicPr>
            <a:picLocks noChangeAspect="1"/>
          </p:cNvPicPr>
          <p:nvPr/>
        </p:nvPicPr>
        <p:blipFill>
          <a:blip r:embed="rId3"/>
          <a:srcRect l="2464" t="2188" r="2382" b="6163"/>
          <a:stretch>
            <a:fillRect/>
          </a:stretch>
        </p:blipFill>
        <p:spPr>
          <a:xfrm>
            <a:off x="3021426" y="2219161"/>
            <a:ext cx="5898666" cy="3976949"/>
          </a:xfrm>
          <a:prstGeom prst="rect">
            <a:avLst/>
          </a:prstGeom>
        </p:spPr>
      </p:pic>
    </p:spTree>
    <p:extLst>
      <p:ext uri="{BB962C8B-B14F-4D97-AF65-F5344CB8AC3E}">
        <p14:creationId xmlns:p14="http://schemas.microsoft.com/office/powerpoint/2010/main" val="39909337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A965D-A507-F0C9-E3EC-B0AF9EA8778F}"/>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36D452DA-3824-4287-C6F8-92DB1DF47E53}"/>
              </a:ext>
            </a:extLst>
          </p:cNvPr>
          <p:cNvSpPr>
            <a:spLocks noGrp="1"/>
          </p:cNvSpPr>
          <p:nvPr>
            <p:ph type="title"/>
          </p:nvPr>
        </p:nvSpPr>
        <p:spPr>
          <a:xfrm>
            <a:off x="457200" y="331927"/>
            <a:ext cx="7886700" cy="994172"/>
          </a:xfrm>
        </p:spPr>
        <p:txBody>
          <a:bodyPr>
            <a:noAutofit/>
          </a:bodyPr>
          <a:lstStyle/>
          <a:p>
            <a:r>
              <a:rPr lang="en-US" sz="3200" b="1" dirty="0">
                <a:solidFill>
                  <a:srgbClr val="171C8C"/>
                </a:solidFill>
                <a:latin typeface="Arial" panose="020B0604020202020204" pitchFamily="34" charset="0"/>
                <a:cs typeface="Arial" panose="020B0604020202020204" pitchFamily="34" charset="0"/>
              </a:rPr>
              <a:t>Baseline: Epithelial Proliferation</a:t>
            </a:r>
          </a:p>
        </p:txBody>
      </p:sp>
      <p:cxnSp>
        <p:nvCxnSpPr>
          <p:cNvPr id="5" name="Straight Connector 4">
            <a:extLst>
              <a:ext uri="{FF2B5EF4-FFF2-40B4-BE49-F238E27FC236}">
                <a16:creationId xmlns:a16="http://schemas.microsoft.com/office/drawing/2014/main" id="{A22686AA-000C-C02A-A6DA-CBA2D0B063B5}"/>
              </a:ext>
            </a:extLst>
          </p:cNvPr>
          <p:cNvCxnSpPr/>
          <p:nvPr/>
        </p:nvCxnSpPr>
        <p:spPr>
          <a:xfrm>
            <a:off x="191528" y="1224990"/>
            <a:ext cx="8760941"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 name="Content Placeholder 2">
            <a:extLst>
              <a:ext uri="{FF2B5EF4-FFF2-40B4-BE49-F238E27FC236}">
                <a16:creationId xmlns:a16="http://schemas.microsoft.com/office/drawing/2014/main" id="{D2B1BBB0-39A0-C4B2-5EE4-29281A2D83CA}"/>
              </a:ext>
            </a:extLst>
          </p:cNvPr>
          <p:cNvSpPr txBox="1">
            <a:spLocks/>
          </p:cNvSpPr>
          <p:nvPr/>
        </p:nvSpPr>
        <p:spPr>
          <a:xfrm>
            <a:off x="-2887250" y="1870438"/>
            <a:ext cx="3344450" cy="4049034"/>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b="0" i="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b="0" i="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spcAft>
                <a:spcPts val="1200"/>
              </a:spcAft>
            </a:pPr>
            <a:r>
              <a:rPr lang="en-US" sz="3600" b="1" dirty="0">
                <a:solidFill>
                  <a:schemeClr val="tx2"/>
                </a:solidFill>
              </a:rPr>
              <a:t>All</a:t>
            </a:r>
            <a:r>
              <a:rPr lang="en-US" sz="3600" b="1" dirty="0"/>
              <a:t> </a:t>
            </a:r>
            <a:r>
              <a:rPr lang="en-US" sz="3600" dirty="0"/>
              <a:t>forces enabled</a:t>
            </a:r>
          </a:p>
          <a:p>
            <a:pPr>
              <a:spcAft>
                <a:spcPts val="600"/>
              </a:spcAft>
            </a:pPr>
            <a:r>
              <a:rPr lang="en-US" sz="3600" b="1" dirty="0">
                <a:solidFill>
                  <a:schemeClr val="tx2"/>
                </a:solidFill>
              </a:rPr>
              <a:t>Parallel cell division </a:t>
            </a:r>
            <a:r>
              <a:rPr lang="en-US" sz="3600" dirty="0"/>
              <a:t>enabled </a:t>
            </a:r>
          </a:p>
          <a:p>
            <a:pPr marL="0" indent="0">
              <a:spcAft>
                <a:spcPts val="600"/>
              </a:spcAft>
              <a:buNone/>
            </a:pPr>
            <a:endParaRPr lang="en-US" sz="3600" b="1" dirty="0"/>
          </a:p>
          <a:p>
            <a:pPr marL="0" indent="0">
              <a:buNone/>
            </a:pPr>
            <a:endParaRPr lang="en-US" sz="3500" b="1" dirty="0">
              <a:solidFill>
                <a:srgbClr val="FF0000"/>
              </a:solidFill>
            </a:endParaRPr>
          </a:p>
          <a:p>
            <a:endParaRPr lang="en-US" sz="3200" dirty="0"/>
          </a:p>
        </p:txBody>
      </p:sp>
      <p:pic>
        <p:nvPicPr>
          <p:cNvPr id="3" name="EP_Pressure.mp4">
            <a:hlinkClick r:id="" action="ppaction://media"/>
            <a:extLst>
              <a:ext uri="{FF2B5EF4-FFF2-40B4-BE49-F238E27FC236}">
                <a16:creationId xmlns:a16="http://schemas.microsoft.com/office/drawing/2014/main" id="{17B4E926-0AB3-B3EB-BCE7-9D89CD32CBA5}"/>
              </a:ext>
            </a:extLst>
          </p:cNvPr>
          <p:cNvPicPr>
            <a:picLocks noChangeAspect="1"/>
          </p:cNvPicPr>
          <p:nvPr>
            <a:videoFile r:link="rId2"/>
            <p:extLst>
              <p:ext uri="{DAA4B4D4-6D71-4841-9C94-3DE7FCFB9230}">
                <p14:media xmlns:p14="http://schemas.microsoft.com/office/powerpoint/2010/main" r:embed="rId1"/>
              </p:ext>
            </p:extLst>
          </p:nvPr>
        </p:nvPicPr>
        <p:blipFill>
          <a:blip r:embed="rId5"/>
          <a:srcRect l="20357" t="10317" r="28214" b="4840"/>
          <a:stretch>
            <a:fillRect/>
          </a:stretch>
        </p:blipFill>
        <p:spPr>
          <a:xfrm>
            <a:off x="4399367" y="1326099"/>
            <a:ext cx="4287433" cy="5304787"/>
          </a:xfrm>
          <a:prstGeom prst="rect">
            <a:avLst/>
          </a:prstGeom>
        </p:spPr>
      </p:pic>
      <p:pic>
        <p:nvPicPr>
          <p:cNvPr id="12" name="Picture 11">
            <a:extLst>
              <a:ext uri="{FF2B5EF4-FFF2-40B4-BE49-F238E27FC236}">
                <a16:creationId xmlns:a16="http://schemas.microsoft.com/office/drawing/2014/main" id="{E2D64E4D-2833-3075-0C9F-40702FECF2C7}"/>
              </a:ext>
            </a:extLst>
          </p:cNvPr>
          <p:cNvPicPr>
            <a:picLocks noChangeAspect="1"/>
          </p:cNvPicPr>
          <p:nvPr/>
        </p:nvPicPr>
        <p:blipFill>
          <a:blip r:embed="rId6"/>
          <a:stretch>
            <a:fillRect/>
          </a:stretch>
        </p:blipFill>
        <p:spPr>
          <a:xfrm>
            <a:off x="191528" y="1644921"/>
            <a:ext cx="4128975" cy="4104687"/>
          </a:xfrm>
          <a:prstGeom prst="rect">
            <a:avLst/>
          </a:prstGeom>
        </p:spPr>
      </p:pic>
    </p:spTree>
    <p:extLst>
      <p:ext uri="{BB962C8B-B14F-4D97-AF65-F5344CB8AC3E}">
        <p14:creationId xmlns:p14="http://schemas.microsoft.com/office/powerpoint/2010/main" val="17138842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69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A965D-A507-F0C9-E3EC-B0AF9EA8778F}"/>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36D452DA-3824-4287-C6F8-92DB1DF47E53}"/>
              </a:ext>
            </a:extLst>
          </p:cNvPr>
          <p:cNvSpPr>
            <a:spLocks noGrp="1"/>
          </p:cNvSpPr>
          <p:nvPr>
            <p:ph type="title"/>
          </p:nvPr>
        </p:nvSpPr>
        <p:spPr>
          <a:xfrm>
            <a:off x="457200" y="331927"/>
            <a:ext cx="7886700" cy="994172"/>
          </a:xfrm>
        </p:spPr>
        <p:txBody>
          <a:bodyPr>
            <a:noAutofit/>
          </a:bodyPr>
          <a:lstStyle/>
          <a:p>
            <a:r>
              <a:rPr lang="en-US" sz="3200" b="1" dirty="0">
                <a:solidFill>
                  <a:srgbClr val="171C8C"/>
                </a:solidFill>
                <a:latin typeface="Arial" panose="020B0604020202020204" pitchFamily="34" charset="0"/>
                <a:cs typeface="Arial" panose="020B0604020202020204" pitchFamily="34" charset="0"/>
              </a:rPr>
              <a:t>Baseline: Epithelial Proliferation</a:t>
            </a:r>
          </a:p>
        </p:txBody>
      </p:sp>
      <p:cxnSp>
        <p:nvCxnSpPr>
          <p:cNvPr id="5" name="Straight Connector 4">
            <a:extLst>
              <a:ext uri="{FF2B5EF4-FFF2-40B4-BE49-F238E27FC236}">
                <a16:creationId xmlns:a16="http://schemas.microsoft.com/office/drawing/2014/main" id="{A22686AA-000C-C02A-A6DA-CBA2D0B063B5}"/>
              </a:ext>
            </a:extLst>
          </p:cNvPr>
          <p:cNvCxnSpPr/>
          <p:nvPr/>
        </p:nvCxnSpPr>
        <p:spPr>
          <a:xfrm>
            <a:off x="191528" y="1224990"/>
            <a:ext cx="8760941"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 name="Content Placeholder 2">
            <a:extLst>
              <a:ext uri="{FF2B5EF4-FFF2-40B4-BE49-F238E27FC236}">
                <a16:creationId xmlns:a16="http://schemas.microsoft.com/office/drawing/2014/main" id="{D2B1BBB0-39A0-C4B2-5EE4-29281A2D83CA}"/>
              </a:ext>
            </a:extLst>
          </p:cNvPr>
          <p:cNvSpPr txBox="1">
            <a:spLocks/>
          </p:cNvSpPr>
          <p:nvPr/>
        </p:nvSpPr>
        <p:spPr>
          <a:xfrm>
            <a:off x="-2887250" y="1870438"/>
            <a:ext cx="3344450" cy="4049034"/>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b="0" i="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b="0" i="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spcAft>
                <a:spcPts val="1200"/>
              </a:spcAft>
            </a:pPr>
            <a:r>
              <a:rPr lang="en-US" sz="3600" b="1" dirty="0">
                <a:solidFill>
                  <a:schemeClr val="tx2"/>
                </a:solidFill>
              </a:rPr>
              <a:t>All</a:t>
            </a:r>
            <a:r>
              <a:rPr lang="en-US" sz="3600" b="1" dirty="0"/>
              <a:t> </a:t>
            </a:r>
            <a:r>
              <a:rPr lang="en-US" sz="3600" dirty="0"/>
              <a:t>forces enabled</a:t>
            </a:r>
          </a:p>
          <a:p>
            <a:pPr>
              <a:spcAft>
                <a:spcPts val="600"/>
              </a:spcAft>
            </a:pPr>
            <a:r>
              <a:rPr lang="en-US" sz="3600" b="1" dirty="0">
                <a:solidFill>
                  <a:schemeClr val="tx2"/>
                </a:solidFill>
              </a:rPr>
              <a:t>Parallel cell division </a:t>
            </a:r>
            <a:r>
              <a:rPr lang="en-US" sz="3600" dirty="0"/>
              <a:t>enabled </a:t>
            </a:r>
          </a:p>
          <a:p>
            <a:pPr marL="0" indent="0">
              <a:spcAft>
                <a:spcPts val="600"/>
              </a:spcAft>
              <a:buNone/>
            </a:pPr>
            <a:endParaRPr lang="en-US" sz="3600" b="1" dirty="0"/>
          </a:p>
          <a:p>
            <a:pPr marL="0" indent="0">
              <a:buNone/>
            </a:pPr>
            <a:endParaRPr lang="en-US" sz="3500" b="1" dirty="0">
              <a:solidFill>
                <a:srgbClr val="FF0000"/>
              </a:solidFill>
            </a:endParaRPr>
          </a:p>
          <a:p>
            <a:endParaRPr lang="en-US" sz="3200" dirty="0"/>
          </a:p>
        </p:txBody>
      </p:sp>
      <p:pic>
        <p:nvPicPr>
          <p:cNvPr id="4" name="10-Interaction.mp4">
            <a:hlinkClick r:id="" action="ppaction://media"/>
            <a:extLst>
              <a:ext uri="{FF2B5EF4-FFF2-40B4-BE49-F238E27FC236}">
                <a16:creationId xmlns:a16="http://schemas.microsoft.com/office/drawing/2014/main" id="{6E37A013-9A6A-85AF-55C2-5A475123D962}"/>
              </a:ext>
            </a:extLst>
          </p:cNvPr>
          <p:cNvPicPr>
            <a:picLocks noChangeAspect="1"/>
          </p:cNvPicPr>
          <p:nvPr>
            <a:videoFile r:link="rId1"/>
            <p:extLst>
              <p:ext uri="{DAA4B4D4-6D71-4841-9C94-3DE7FCFB9230}">
                <p14:media xmlns:p14="http://schemas.microsoft.com/office/powerpoint/2010/main" r:embed="rId2">
                  <p14:trim end="30431.5428"/>
                </p14:media>
              </p:ext>
            </p:extLst>
          </p:nvPr>
        </p:nvPicPr>
        <p:blipFill>
          <a:blip r:embed="rId5"/>
          <a:srcRect l="19881" t="11111" r="28333" b="20000"/>
          <a:stretch>
            <a:fillRect/>
          </a:stretch>
        </p:blipFill>
        <p:spPr>
          <a:xfrm>
            <a:off x="4400885" y="1625966"/>
            <a:ext cx="4551584" cy="4541121"/>
          </a:xfrm>
          <a:prstGeom prst="rect">
            <a:avLst/>
          </a:prstGeom>
        </p:spPr>
      </p:pic>
      <p:pic>
        <p:nvPicPr>
          <p:cNvPr id="7" name="Picture 6">
            <a:extLst>
              <a:ext uri="{FF2B5EF4-FFF2-40B4-BE49-F238E27FC236}">
                <a16:creationId xmlns:a16="http://schemas.microsoft.com/office/drawing/2014/main" id="{F020B0E7-7716-83F7-4705-15452A5803AB}"/>
              </a:ext>
            </a:extLst>
          </p:cNvPr>
          <p:cNvPicPr>
            <a:picLocks noChangeAspect="1"/>
          </p:cNvPicPr>
          <p:nvPr/>
        </p:nvPicPr>
        <p:blipFill>
          <a:blip r:embed="rId6"/>
          <a:stretch>
            <a:fillRect/>
          </a:stretch>
        </p:blipFill>
        <p:spPr>
          <a:xfrm>
            <a:off x="191528" y="1870437"/>
            <a:ext cx="4043015" cy="4052925"/>
          </a:xfrm>
          <a:prstGeom prst="rect">
            <a:avLst/>
          </a:prstGeom>
        </p:spPr>
      </p:pic>
      <p:pic>
        <p:nvPicPr>
          <p:cNvPr id="13" name="Picture 12">
            <a:extLst>
              <a:ext uri="{FF2B5EF4-FFF2-40B4-BE49-F238E27FC236}">
                <a16:creationId xmlns:a16="http://schemas.microsoft.com/office/drawing/2014/main" id="{8BCFC215-79CF-078A-7963-82851D55D8CD}"/>
              </a:ext>
            </a:extLst>
          </p:cNvPr>
          <p:cNvPicPr>
            <a:picLocks noChangeAspect="1"/>
          </p:cNvPicPr>
          <p:nvPr/>
        </p:nvPicPr>
        <p:blipFill>
          <a:blip r:embed="rId7"/>
          <a:stretch>
            <a:fillRect/>
          </a:stretch>
        </p:blipFill>
        <p:spPr>
          <a:xfrm>
            <a:off x="663635" y="2118054"/>
            <a:ext cx="3098800" cy="266700"/>
          </a:xfrm>
          <a:prstGeom prst="rect">
            <a:avLst/>
          </a:prstGeom>
        </p:spPr>
      </p:pic>
    </p:spTree>
    <p:extLst>
      <p:ext uri="{BB962C8B-B14F-4D97-AF65-F5344CB8AC3E}">
        <p14:creationId xmlns:p14="http://schemas.microsoft.com/office/powerpoint/2010/main" val="1936271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19968"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A965D-A507-F0C9-E3EC-B0AF9EA8778F}"/>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36D452DA-3824-4287-C6F8-92DB1DF47E53}"/>
              </a:ext>
            </a:extLst>
          </p:cNvPr>
          <p:cNvSpPr>
            <a:spLocks noGrp="1"/>
          </p:cNvSpPr>
          <p:nvPr>
            <p:ph type="title"/>
          </p:nvPr>
        </p:nvSpPr>
        <p:spPr>
          <a:xfrm>
            <a:off x="457200" y="331927"/>
            <a:ext cx="6204857" cy="994172"/>
          </a:xfrm>
        </p:spPr>
        <p:txBody>
          <a:bodyPr>
            <a:noAutofit/>
          </a:bodyPr>
          <a:lstStyle/>
          <a:p>
            <a:r>
              <a:rPr lang="en-US" sz="3200" b="1" dirty="0">
                <a:solidFill>
                  <a:srgbClr val="171C8C"/>
                </a:solidFill>
                <a:latin typeface="Arial" panose="020B0604020202020204" pitchFamily="34" charset="0"/>
                <a:cs typeface="Arial" panose="020B0604020202020204" pitchFamily="34" charset="0"/>
              </a:rPr>
              <a:t>Prototype: Short Term</a:t>
            </a:r>
          </a:p>
        </p:txBody>
      </p:sp>
      <p:cxnSp>
        <p:nvCxnSpPr>
          <p:cNvPr id="5" name="Straight Connector 4">
            <a:extLst>
              <a:ext uri="{FF2B5EF4-FFF2-40B4-BE49-F238E27FC236}">
                <a16:creationId xmlns:a16="http://schemas.microsoft.com/office/drawing/2014/main" id="{A22686AA-000C-C02A-A6DA-CBA2D0B063B5}"/>
              </a:ext>
            </a:extLst>
          </p:cNvPr>
          <p:cNvCxnSpPr/>
          <p:nvPr/>
        </p:nvCxnSpPr>
        <p:spPr>
          <a:xfrm>
            <a:off x="191528" y="1224990"/>
            <a:ext cx="8760941"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 name="Content Placeholder 2">
            <a:extLst>
              <a:ext uri="{FF2B5EF4-FFF2-40B4-BE49-F238E27FC236}">
                <a16:creationId xmlns:a16="http://schemas.microsoft.com/office/drawing/2014/main" id="{D2B1BBB0-39A0-C4B2-5EE4-29281A2D83CA}"/>
              </a:ext>
            </a:extLst>
          </p:cNvPr>
          <p:cNvSpPr txBox="1">
            <a:spLocks/>
          </p:cNvSpPr>
          <p:nvPr/>
        </p:nvSpPr>
        <p:spPr>
          <a:xfrm>
            <a:off x="-2887250" y="1870438"/>
            <a:ext cx="3344450" cy="4049034"/>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b="0" i="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b="0" i="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spcAft>
                <a:spcPts val="1200"/>
              </a:spcAft>
            </a:pPr>
            <a:r>
              <a:rPr lang="en-US" sz="3600" b="1" dirty="0">
                <a:solidFill>
                  <a:schemeClr val="tx2"/>
                </a:solidFill>
              </a:rPr>
              <a:t>All</a:t>
            </a:r>
            <a:r>
              <a:rPr lang="en-US" sz="3600" b="1" dirty="0"/>
              <a:t> </a:t>
            </a:r>
            <a:r>
              <a:rPr lang="en-US" sz="3600" dirty="0"/>
              <a:t>forces enabled</a:t>
            </a:r>
          </a:p>
          <a:p>
            <a:pPr>
              <a:spcAft>
                <a:spcPts val="600"/>
              </a:spcAft>
            </a:pPr>
            <a:r>
              <a:rPr lang="en-US" sz="3600" b="1" dirty="0">
                <a:solidFill>
                  <a:schemeClr val="tx2"/>
                </a:solidFill>
              </a:rPr>
              <a:t>Parallel cell division </a:t>
            </a:r>
            <a:r>
              <a:rPr lang="en-US" sz="3600" dirty="0"/>
              <a:t>enabled </a:t>
            </a:r>
          </a:p>
          <a:p>
            <a:pPr marL="0" indent="0">
              <a:spcAft>
                <a:spcPts val="600"/>
              </a:spcAft>
              <a:buNone/>
            </a:pPr>
            <a:endParaRPr lang="en-US" sz="3600" b="1" dirty="0"/>
          </a:p>
          <a:p>
            <a:pPr marL="0" indent="0">
              <a:buNone/>
            </a:pPr>
            <a:endParaRPr lang="en-US" sz="3500" b="1" dirty="0">
              <a:solidFill>
                <a:srgbClr val="FF0000"/>
              </a:solidFill>
            </a:endParaRPr>
          </a:p>
          <a:p>
            <a:endParaRPr lang="en-US" sz="3200" dirty="0"/>
          </a:p>
        </p:txBody>
      </p:sp>
      <p:pic>
        <p:nvPicPr>
          <p:cNvPr id="3" name="Tumor(V1-rules).mp4">
            <a:hlinkClick r:id="" action="ppaction://media"/>
            <a:extLst>
              <a:ext uri="{FF2B5EF4-FFF2-40B4-BE49-F238E27FC236}">
                <a16:creationId xmlns:a16="http://schemas.microsoft.com/office/drawing/2014/main" id="{3D957CF2-5B19-52BB-832F-A70ADAE8D697}"/>
              </a:ext>
            </a:extLst>
          </p:cNvPr>
          <p:cNvPicPr>
            <a:picLocks noChangeAspect="1"/>
          </p:cNvPicPr>
          <p:nvPr>
            <a:videoFile r:link="rId1"/>
            <p:extLst>
              <p:ext uri="{DAA4B4D4-6D71-4841-9C94-3DE7FCFB9230}">
                <p14:media xmlns:p14="http://schemas.microsoft.com/office/powerpoint/2010/main" r:embed="rId2">
                  <p14:trim end="28598.8361"/>
                </p14:media>
              </p:ext>
            </p:extLst>
          </p:nvPr>
        </p:nvPicPr>
        <p:blipFill>
          <a:blip r:embed="rId5"/>
          <a:srcRect l="20357" t="10794" r="26786" b="4840"/>
          <a:stretch>
            <a:fillRect/>
          </a:stretch>
        </p:blipFill>
        <p:spPr>
          <a:xfrm>
            <a:off x="4392945" y="1326097"/>
            <a:ext cx="4418013" cy="5288759"/>
          </a:xfrm>
          <a:prstGeom prst="rect">
            <a:avLst/>
          </a:prstGeom>
        </p:spPr>
      </p:pic>
      <p:pic>
        <p:nvPicPr>
          <p:cNvPr id="7" name="Picture 6">
            <a:extLst>
              <a:ext uri="{FF2B5EF4-FFF2-40B4-BE49-F238E27FC236}">
                <a16:creationId xmlns:a16="http://schemas.microsoft.com/office/drawing/2014/main" id="{BA4B5A31-9F8F-EC9D-3C6B-A1A287EC2762}"/>
              </a:ext>
            </a:extLst>
          </p:cNvPr>
          <p:cNvPicPr>
            <a:picLocks noChangeAspect="1"/>
          </p:cNvPicPr>
          <p:nvPr/>
        </p:nvPicPr>
        <p:blipFill>
          <a:blip r:embed="rId6"/>
          <a:stretch>
            <a:fillRect/>
          </a:stretch>
        </p:blipFill>
        <p:spPr>
          <a:xfrm>
            <a:off x="191528" y="1427213"/>
            <a:ext cx="4169012" cy="4205797"/>
          </a:xfrm>
          <a:prstGeom prst="rect">
            <a:avLst/>
          </a:prstGeom>
        </p:spPr>
      </p:pic>
      <p:pic>
        <p:nvPicPr>
          <p:cNvPr id="12" name="Picture 11">
            <a:extLst>
              <a:ext uri="{FF2B5EF4-FFF2-40B4-BE49-F238E27FC236}">
                <a16:creationId xmlns:a16="http://schemas.microsoft.com/office/drawing/2014/main" id="{2A3CFC65-BC63-7A25-856A-60380357B869}"/>
              </a:ext>
            </a:extLst>
          </p:cNvPr>
          <p:cNvPicPr>
            <a:picLocks noChangeAspect="1"/>
          </p:cNvPicPr>
          <p:nvPr/>
        </p:nvPicPr>
        <p:blipFill>
          <a:blip r:embed="rId7"/>
          <a:stretch>
            <a:fillRect/>
          </a:stretch>
        </p:blipFill>
        <p:spPr>
          <a:xfrm>
            <a:off x="670377" y="1629138"/>
            <a:ext cx="2959100" cy="241300"/>
          </a:xfrm>
          <a:prstGeom prst="rect">
            <a:avLst/>
          </a:prstGeom>
        </p:spPr>
      </p:pic>
    </p:spTree>
    <p:extLst>
      <p:ext uri="{BB962C8B-B14F-4D97-AF65-F5344CB8AC3E}">
        <p14:creationId xmlns:p14="http://schemas.microsoft.com/office/powerpoint/2010/main" val="1953506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8110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A965D-A507-F0C9-E3EC-B0AF9EA8778F}"/>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36D452DA-3824-4287-C6F8-92DB1DF47E53}"/>
              </a:ext>
            </a:extLst>
          </p:cNvPr>
          <p:cNvSpPr>
            <a:spLocks noGrp="1"/>
          </p:cNvSpPr>
          <p:nvPr>
            <p:ph type="title"/>
          </p:nvPr>
        </p:nvSpPr>
        <p:spPr>
          <a:xfrm>
            <a:off x="421821" y="320565"/>
            <a:ext cx="7886700" cy="994172"/>
          </a:xfrm>
        </p:spPr>
        <p:txBody>
          <a:bodyPr>
            <a:noAutofit/>
          </a:bodyPr>
          <a:lstStyle/>
          <a:p>
            <a:r>
              <a:rPr lang="en-US" sz="3200" b="1" dirty="0">
                <a:solidFill>
                  <a:srgbClr val="171C8C"/>
                </a:solidFill>
                <a:latin typeface="Arial" panose="020B0604020202020204" pitchFamily="34" charset="0"/>
                <a:cs typeface="Arial" panose="020B0604020202020204" pitchFamily="34" charset="0"/>
              </a:rPr>
              <a:t>Prototype: Long Term</a:t>
            </a:r>
          </a:p>
        </p:txBody>
      </p:sp>
      <p:cxnSp>
        <p:nvCxnSpPr>
          <p:cNvPr id="5" name="Straight Connector 4">
            <a:extLst>
              <a:ext uri="{FF2B5EF4-FFF2-40B4-BE49-F238E27FC236}">
                <a16:creationId xmlns:a16="http://schemas.microsoft.com/office/drawing/2014/main" id="{A22686AA-000C-C02A-A6DA-CBA2D0B063B5}"/>
              </a:ext>
            </a:extLst>
          </p:cNvPr>
          <p:cNvCxnSpPr/>
          <p:nvPr/>
        </p:nvCxnSpPr>
        <p:spPr>
          <a:xfrm>
            <a:off x="191528" y="1224990"/>
            <a:ext cx="8760941" cy="0"/>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3" name="FULLPROLIF.mp4">
            <a:hlinkClick r:id="" action="ppaction://media"/>
            <a:extLst>
              <a:ext uri="{FF2B5EF4-FFF2-40B4-BE49-F238E27FC236}">
                <a16:creationId xmlns:a16="http://schemas.microsoft.com/office/drawing/2014/main" id="{F1400A4E-758F-DAE1-4591-2DA37B6A6636}"/>
              </a:ext>
            </a:extLst>
          </p:cNvPr>
          <p:cNvPicPr>
            <a:picLocks noChangeAspect="1"/>
          </p:cNvPicPr>
          <p:nvPr>
            <a:videoFile r:link="rId1"/>
            <p:extLst>
              <p:ext uri="{DAA4B4D4-6D71-4841-9C94-3DE7FCFB9230}">
                <p14:media xmlns:p14="http://schemas.microsoft.com/office/powerpoint/2010/main" r:embed="rId2">
                  <p14:trim end="25241.8669"/>
                </p14:media>
              </p:ext>
            </p:extLst>
          </p:nvPr>
        </p:nvPicPr>
        <p:blipFill>
          <a:blip r:embed="rId5"/>
          <a:srcRect l="19762" t="11111" r="29166" b="4840"/>
          <a:stretch>
            <a:fillRect/>
          </a:stretch>
        </p:blipFill>
        <p:spPr>
          <a:xfrm>
            <a:off x="4201885" y="1259086"/>
            <a:ext cx="4321532" cy="5334000"/>
          </a:xfrm>
          <a:prstGeom prst="rect">
            <a:avLst/>
          </a:prstGeom>
        </p:spPr>
      </p:pic>
      <p:pic>
        <p:nvPicPr>
          <p:cNvPr id="7" name="Picture 6">
            <a:extLst>
              <a:ext uri="{FF2B5EF4-FFF2-40B4-BE49-F238E27FC236}">
                <a16:creationId xmlns:a16="http://schemas.microsoft.com/office/drawing/2014/main" id="{EE34B5CB-5A10-FC63-FD9B-E7BBC85E1236}"/>
              </a:ext>
            </a:extLst>
          </p:cNvPr>
          <p:cNvPicPr>
            <a:picLocks noChangeAspect="1"/>
          </p:cNvPicPr>
          <p:nvPr/>
        </p:nvPicPr>
        <p:blipFill>
          <a:blip r:embed="rId6"/>
          <a:stretch>
            <a:fillRect/>
          </a:stretch>
        </p:blipFill>
        <p:spPr>
          <a:xfrm>
            <a:off x="191528" y="1423821"/>
            <a:ext cx="4010357" cy="4010357"/>
          </a:xfrm>
          <a:prstGeom prst="rect">
            <a:avLst/>
          </a:prstGeom>
        </p:spPr>
      </p:pic>
      <p:pic>
        <p:nvPicPr>
          <p:cNvPr id="12" name="Picture 11">
            <a:extLst>
              <a:ext uri="{FF2B5EF4-FFF2-40B4-BE49-F238E27FC236}">
                <a16:creationId xmlns:a16="http://schemas.microsoft.com/office/drawing/2014/main" id="{2025F9C9-0CCA-F4AD-0B1F-01C46C9962B0}"/>
              </a:ext>
            </a:extLst>
          </p:cNvPr>
          <p:cNvPicPr>
            <a:picLocks noChangeAspect="1"/>
          </p:cNvPicPr>
          <p:nvPr/>
        </p:nvPicPr>
        <p:blipFill>
          <a:blip r:embed="rId7"/>
          <a:stretch>
            <a:fillRect/>
          </a:stretch>
        </p:blipFill>
        <p:spPr>
          <a:xfrm>
            <a:off x="421821" y="1537745"/>
            <a:ext cx="3136900" cy="266700"/>
          </a:xfrm>
          <a:prstGeom prst="rect">
            <a:avLst/>
          </a:prstGeom>
        </p:spPr>
      </p:pic>
    </p:spTree>
    <p:extLst>
      <p:ext uri="{BB962C8B-B14F-4D97-AF65-F5344CB8AC3E}">
        <p14:creationId xmlns:p14="http://schemas.microsoft.com/office/powerpoint/2010/main" val="1234524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10458"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494894-13E7-14F2-919D-C85C091D8115}"/>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1D792CA8-FB6C-63C9-8467-E7F05520209C}"/>
              </a:ext>
            </a:extLst>
          </p:cNvPr>
          <p:cNvSpPr>
            <a:spLocks noGrp="1"/>
          </p:cNvSpPr>
          <p:nvPr>
            <p:ph type="title"/>
          </p:nvPr>
        </p:nvSpPr>
        <p:spPr>
          <a:xfrm>
            <a:off x="457200" y="331927"/>
            <a:ext cx="7886700" cy="994172"/>
          </a:xfrm>
        </p:spPr>
        <p:txBody>
          <a:bodyPr>
            <a:noAutofit/>
          </a:bodyPr>
          <a:lstStyle/>
          <a:p>
            <a:r>
              <a:rPr lang="en-US" sz="3200" b="1" dirty="0">
                <a:solidFill>
                  <a:srgbClr val="171C8C"/>
                </a:solidFill>
                <a:latin typeface="Arial" panose="020B0604020202020204" pitchFamily="34" charset="0"/>
                <a:cs typeface="Arial" panose="020B0604020202020204" pitchFamily="34" charset="0"/>
              </a:rPr>
              <a:t>Where We Are Heading </a:t>
            </a:r>
          </a:p>
        </p:txBody>
      </p:sp>
      <p:cxnSp>
        <p:nvCxnSpPr>
          <p:cNvPr id="5" name="Straight Connector 4">
            <a:extLst>
              <a:ext uri="{FF2B5EF4-FFF2-40B4-BE49-F238E27FC236}">
                <a16:creationId xmlns:a16="http://schemas.microsoft.com/office/drawing/2014/main" id="{F58504BD-5696-26E4-B11C-115ACDFC9D29}"/>
              </a:ext>
            </a:extLst>
          </p:cNvPr>
          <p:cNvCxnSpPr/>
          <p:nvPr/>
        </p:nvCxnSpPr>
        <p:spPr>
          <a:xfrm>
            <a:off x="191528" y="1224990"/>
            <a:ext cx="8760941"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 name="Content Placeholder 2">
            <a:extLst>
              <a:ext uri="{FF2B5EF4-FFF2-40B4-BE49-F238E27FC236}">
                <a16:creationId xmlns:a16="http://schemas.microsoft.com/office/drawing/2014/main" id="{3F6FB430-2504-7B8C-4077-C48846391118}"/>
              </a:ext>
            </a:extLst>
          </p:cNvPr>
          <p:cNvSpPr txBox="1">
            <a:spLocks/>
          </p:cNvSpPr>
          <p:nvPr/>
        </p:nvSpPr>
        <p:spPr>
          <a:xfrm>
            <a:off x="385452" y="1695477"/>
            <a:ext cx="7958448" cy="4912149"/>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b="0" i="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b="0" i="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spcAft>
                <a:spcPts val="1200"/>
              </a:spcAft>
              <a:buNone/>
            </a:pPr>
            <a:r>
              <a:rPr lang="en-US" sz="3600" b="1" dirty="0">
                <a:solidFill>
                  <a:schemeClr val="tx2"/>
                </a:solidFill>
              </a:rPr>
              <a:t>Main Ideas:</a:t>
            </a:r>
            <a:endParaRPr lang="en-US" sz="3600" b="1" dirty="0"/>
          </a:p>
          <a:p>
            <a:pPr>
              <a:spcAft>
                <a:spcPts val="1200"/>
              </a:spcAft>
            </a:pPr>
            <a:r>
              <a:rPr lang="en-US" sz="3600" b="1" dirty="0"/>
              <a:t> Resolve Long Term </a:t>
            </a:r>
            <a:r>
              <a:rPr lang="en-US" sz="3600" b="1" dirty="0">
                <a:solidFill>
                  <a:schemeClr val="tx2"/>
                </a:solidFill>
              </a:rPr>
              <a:t>Instability</a:t>
            </a:r>
          </a:p>
          <a:p>
            <a:pPr lvl="1">
              <a:spcAft>
                <a:spcPts val="1200"/>
              </a:spcAft>
            </a:pPr>
            <a:r>
              <a:rPr lang="en-US" sz="3300" b="1" dirty="0"/>
              <a:t>ECM Supporting Force</a:t>
            </a:r>
          </a:p>
          <a:p>
            <a:pPr>
              <a:spcAft>
                <a:spcPts val="1200"/>
              </a:spcAft>
            </a:pPr>
            <a:r>
              <a:rPr lang="en-US" sz="3600" b="1" dirty="0"/>
              <a:t> Cellular </a:t>
            </a:r>
            <a:r>
              <a:rPr lang="en-US" sz="3600" b="1" dirty="0">
                <a:solidFill>
                  <a:schemeClr val="tx2"/>
                </a:solidFill>
              </a:rPr>
              <a:t>Extrusion Through Membrane</a:t>
            </a:r>
          </a:p>
          <a:p>
            <a:pPr lvl="1">
              <a:spcAft>
                <a:spcPts val="1200"/>
              </a:spcAft>
            </a:pPr>
            <a:r>
              <a:rPr lang="en-US" sz="3300" b="1" dirty="0"/>
              <a:t> Cells undergoing EMT</a:t>
            </a:r>
          </a:p>
          <a:p>
            <a:pPr>
              <a:spcAft>
                <a:spcPts val="1200"/>
              </a:spcAft>
            </a:pPr>
            <a:r>
              <a:rPr lang="en-US" sz="3600" b="1" dirty="0"/>
              <a:t> Representation of </a:t>
            </a:r>
            <a:r>
              <a:rPr lang="en-US" sz="3600" b="1" dirty="0">
                <a:solidFill>
                  <a:schemeClr val="tx2"/>
                </a:solidFill>
              </a:rPr>
              <a:t>Mucin in Lumen</a:t>
            </a:r>
          </a:p>
          <a:p>
            <a:pPr marL="0" indent="0">
              <a:spcAft>
                <a:spcPts val="1200"/>
              </a:spcAft>
              <a:buNone/>
            </a:pPr>
            <a:endParaRPr lang="en-US" sz="3600" dirty="0"/>
          </a:p>
          <a:p>
            <a:pPr marL="0" indent="0">
              <a:spcAft>
                <a:spcPts val="600"/>
              </a:spcAft>
              <a:buNone/>
            </a:pPr>
            <a:endParaRPr lang="en-US" sz="3600" b="1" dirty="0"/>
          </a:p>
          <a:p>
            <a:pPr marL="0" indent="0">
              <a:buNone/>
            </a:pPr>
            <a:endParaRPr lang="en-US" sz="3500" b="1" dirty="0">
              <a:solidFill>
                <a:srgbClr val="FF0000"/>
              </a:solidFill>
            </a:endParaRPr>
          </a:p>
          <a:p>
            <a:endParaRPr lang="en-US" sz="3200" dirty="0"/>
          </a:p>
        </p:txBody>
      </p:sp>
    </p:spTree>
    <p:extLst>
      <p:ext uri="{BB962C8B-B14F-4D97-AF65-F5344CB8AC3E}">
        <p14:creationId xmlns:p14="http://schemas.microsoft.com/office/powerpoint/2010/main" val="34985096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61C5F6-CBEB-4DA7-A998-FDC1B823B8B9}"/>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C7CD0483-62A0-CD71-B04B-064C72E646C7}"/>
              </a:ext>
            </a:extLst>
          </p:cNvPr>
          <p:cNvSpPr>
            <a:spLocks noGrp="1"/>
          </p:cNvSpPr>
          <p:nvPr>
            <p:ph type="title"/>
          </p:nvPr>
        </p:nvSpPr>
        <p:spPr>
          <a:xfrm>
            <a:off x="457200" y="331927"/>
            <a:ext cx="7886700" cy="994172"/>
          </a:xfrm>
        </p:spPr>
        <p:txBody>
          <a:bodyPr>
            <a:noAutofit/>
          </a:bodyPr>
          <a:lstStyle/>
          <a:p>
            <a:r>
              <a:rPr lang="en-US" sz="3200" b="1" dirty="0">
                <a:solidFill>
                  <a:srgbClr val="171C8C"/>
                </a:solidFill>
                <a:latin typeface="Arial" panose="020B0604020202020204" pitchFamily="34" charset="0"/>
                <a:cs typeface="Arial" panose="020B0604020202020204" pitchFamily="34" charset="0"/>
              </a:rPr>
              <a:t>Background: Cell Pulling Force</a:t>
            </a:r>
          </a:p>
        </p:txBody>
      </p:sp>
      <p:cxnSp>
        <p:nvCxnSpPr>
          <p:cNvPr id="5" name="Straight Connector 4">
            <a:extLst>
              <a:ext uri="{FF2B5EF4-FFF2-40B4-BE49-F238E27FC236}">
                <a16:creationId xmlns:a16="http://schemas.microsoft.com/office/drawing/2014/main" id="{6857670B-F1CD-A359-7902-3D19CA1C1B37}"/>
              </a:ext>
            </a:extLst>
          </p:cNvPr>
          <p:cNvCxnSpPr/>
          <p:nvPr/>
        </p:nvCxnSpPr>
        <p:spPr>
          <a:xfrm>
            <a:off x="191528" y="1224990"/>
            <a:ext cx="8760941"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B27FCD2A-4D47-1917-88A4-A3B250A7E39B}"/>
              </a:ext>
            </a:extLst>
          </p:cNvPr>
          <p:cNvSpPr txBox="1"/>
          <p:nvPr/>
        </p:nvSpPr>
        <p:spPr>
          <a:xfrm>
            <a:off x="3609240" y="5467078"/>
            <a:ext cx="6084009" cy="461665"/>
          </a:xfrm>
          <a:prstGeom prst="rect">
            <a:avLst/>
          </a:prstGeom>
          <a:noFill/>
        </p:spPr>
        <p:txBody>
          <a:bodyPr wrap="square" rtlCol="0">
            <a:spAutoFit/>
          </a:bodyPr>
          <a:lstStyle/>
          <a:p>
            <a:r>
              <a:rPr lang="en-US" sz="1200" dirty="0">
                <a:solidFill>
                  <a:srgbClr val="1B1B1B"/>
                </a:solidFill>
              </a:rPr>
              <a:t>[1] Yurchenco PD, Patton BL. Curr Pharm Des. 2009;15(12):1277-94. </a:t>
            </a:r>
            <a:r>
              <a:rPr lang="en-US" sz="1200" dirty="0" err="1">
                <a:solidFill>
                  <a:srgbClr val="1B1B1B"/>
                </a:solidFill>
              </a:rPr>
              <a:t>doi</a:t>
            </a:r>
            <a:r>
              <a:rPr lang="en-US" sz="1200" dirty="0">
                <a:solidFill>
                  <a:srgbClr val="1B1B1B"/>
                </a:solidFill>
              </a:rPr>
              <a:t>: 10.2174/138161209787846766</a:t>
            </a:r>
            <a:endParaRPr lang="en-US" dirty="0"/>
          </a:p>
        </p:txBody>
      </p:sp>
      <p:pic>
        <p:nvPicPr>
          <p:cNvPr id="9" name="Picture 8">
            <a:extLst>
              <a:ext uri="{FF2B5EF4-FFF2-40B4-BE49-F238E27FC236}">
                <a16:creationId xmlns:a16="http://schemas.microsoft.com/office/drawing/2014/main" id="{DBC28092-BF80-8A1B-928A-4CBA95C92568}"/>
              </a:ext>
            </a:extLst>
          </p:cNvPr>
          <p:cNvPicPr>
            <a:picLocks noChangeAspect="1"/>
          </p:cNvPicPr>
          <p:nvPr/>
        </p:nvPicPr>
        <p:blipFill>
          <a:blip r:embed="rId3"/>
          <a:srcRect l="3148" r="13750" b="12559"/>
          <a:stretch>
            <a:fillRect/>
          </a:stretch>
        </p:blipFill>
        <p:spPr>
          <a:xfrm>
            <a:off x="3391382" y="1314500"/>
            <a:ext cx="5561087" cy="4095975"/>
          </a:xfrm>
          <a:prstGeom prst="rect">
            <a:avLst/>
          </a:prstGeom>
        </p:spPr>
      </p:pic>
      <p:sp>
        <p:nvSpPr>
          <p:cNvPr id="11" name="Content Placeholder 2">
            <a:extLst>
              <a:ext uri="{FF2B5EF4-FFF2-40B4-BE49-F238E27FC236}">
                <a16:creationId xmlns:a16="http://schemas.microsoft.com/office/drawing/2014/main" id="{735EB832-1820-5BEF-6252-6BC70847CF5F}"/>
              </a:ext>
            </a:extLst>
          </p:cNvPr>
          <p:cNvSpPr txBox="1">
            <a:spLocks/>
          </p:cNvSpPr>
          <p:nvPr/>
        </p:nvSpPr>
        <p:spPr>
          <a:xfrm>
            <a:off x="306728" y="1776501"/>
            <a:ext cx="3350871" cy="4049034"/>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b="0" i="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b="0" i="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spcAft>
                <a:spcPts val="1200"/>
              </a:spcAft>
            </a:pPr>
            <a:r>
              <a:rPr lang="en-US" sz="3500" dirty="0"/>
              <a:t>BM is made up of </a:t>
            </a:r>
            <a:r>
              <a:rPr lang="en-US" sz="3500" b="1" dirty="0">
                <a:solidFill>
                  <a:schemeClr val="tx2"/>
                </a:solidFill>
              </a:rPr>
              <a:t>Laminin</a:t>
            </a:r>
            <a:r>
              <a:rPr lang="en-US" sz="3500" dirty="0"/>
              <a:t> and </a:t>
            </a:r>
            <a:r>
              <a:rPr lang="en-US" sz="3500" b="1" dirty="0">
                <a:solidFill>
                  <a:schemeClr val="tx2"/>
                </a:solidFill>
              </a:rPr>
              <a:t>Collagen IV </a:t>
            </a:r>
            <a:r>
              <a:rPr lang="en-US" sz="3500" dirty="0"/>
              <a:t>[1]</a:t>
            </a:r>
          </a:p>
          <a:p>
            <a:pPr lvl="1">
              <a:spcAft>
                <a:spcPts val="1200"/>
              </a:spcAft>
            </a:pPr>
            <a:r>
              <a:rPr lang="en-US" sz="3200" dirty="0"/>
              <a:t> Laminin binds to </a:t>
            </a:r>
            <a:r>
              <a:rPr lang="en-US" sz="3200" b="1" dirty="0">
                <a:solidFill>
                  <a:schemeClr val="tx2"/>
                </a:solidFill>
              </a:rPr>
              <a:t>Integrin</a:t>
            </a:r>
            <a:r>
              <a:rPr lang="en-US" sz="3200" dirty="0"/>
              <a:t> proteins</a:t>
            </a:r>
            <a:endParaRPr lang="en-US" sz="3500" b="1" dirty="0">
              <a:solidFill>
                <a:srgbClr val="FF0000"/>
              </a:solidFill>
            </a:endParaRPr>
          </a:p>
          <a:p>
            <a:endParaRPr lang="en-US" sz="3200" dirty="0"/>
          </a:p>
        </p:txBody>
      </p:sp>
    </p:spTree>
    <p:extLst>
      <p:ext uri="{BB962C8B-B14F-4D97-AF65-F5344CB8AC3E}">
        <p14:creationId xmlns:p14="http://schemas.microsoft.com/office/powerpoint/2010/main" val="28490327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344FAA-7F5F-93B6-06BA-45FFB4901E20}"/>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AB4AA6EF-D9B2-D827-3156-B6C99CE3EA7C}"/>
              </a:ext>
            </a:extLst>
          </p:cNvPr>
          <p:cNvSpPr>
            <a:spLocks noGrp="1"/>
          </p:cNvSpPr>
          <p:nvPr>
            <p:ph type="title"/>
          </p:nvPr>
        </p:nvSpPr>
        <p:spPr>
          <a:xfrm>
            <a:off x="457200" y="331927"/>
            <a:ext cx="7886700" cy="994172"/>
          </a:xfrm>
        </p:spPr>
        <p:txBody>
          <a:bodyPr>
            <a:noAutofit/>
          </a:bodyPr>
          <a:lstStyle/>
          <a:p>
            <a:r>
              <a:rPr lang="en-US" sz="3200" b="1" dirty="0">
                <a:solidFill>
                  <a:srgbClr val="171C8C"/>
                </a:solidFill>
                <a:latin typeface="Arial" panose="020B0604020202020204" pitchFamily="34" charset="0"/>
                <a:cs typeface="Arial" panose="020B0604020202020204" pitchFamily="34" charset="0"/>
              </a:rPr>
              <a:t>Cell Pulling Force</a:t>
            </a:r>
          </a:p>
        </p:txBody>
      </p:sp>
      <p:cxnSp>
        <p:nvCxnSpPr>
          <p:cNvPr id="5" name="Straight Connector 4">
            <a:extLst>
              <a:ext uri="{FF2B5EF4-FFF2-40B4-BE49-F238E27FC236}">
                <a16:creationId xmlns:a16="http://schemas.microsoft.com/office/drawing/2014/main" id="{3B880F1D-C881-0D18-030B-59B04C97ADBC}"/>
              </a:ext>
            </a:extLst>
          </p:cNvPr>
          <p:cNvCxnSpPr/>
          <p:nvPr/>
        </p:nvCxnSpPr>
        <p:spPr>
          <a:xfrm>
            <a:off x="191528" y="1224990"/>
            <a:ext cx="8760941" cy="0"/>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 name="Content Placeholder 2">
                <a:extLst>
                  <a:ext uri="{FF2B5EF4-FFF2-40B4-BE49-F238E27FC236}">
                    <a16:creationId xmlns:a16="http://schemas.microsoft.com/office/drawing/2014/main" id="{76E67268-EC7F-10AB-1A82-7BC4F2DA4F99}"/>
                  </a:ext>
                </a:extLst>
              </p:cNvPr>
              <p:cNvSpPr txBox="1">
                <a:spLocks/>
              </p:cNvSpPr>
              <p:nvPr/>
            </p:nvSpPr>
            <p:spPr>
              <a:xfrm>
                <a:off x="457200" y="1718628"/>
                <a:ext cx="3385595" cy="4049034"/>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b="0" i="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b="0" i="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spcAft>
                    <a:spcPts val="600"/>
                  </a:spcAft>
                </a:pPr>
                <a:r>
                  <a:rPr lang="en-US" sz="3500" dirty="0"/>
                  <a:t>Represented by a </a:t>
                </a:r>
                <a:r>
                  <a:rPr lang="en-US" sz="3500" b="1" dirty="0">
                    <a:solidFill>
                      <a:schemeClr val="tx2"/>
                    </a:solidFill>
                  </a:rPr>
                  <a:t>Spring Force (Hooke’s Law)</a:t>
                </a:r>
              </a:p>
              <a:p>
                <a:pPr marL="342900" lvl="1" indent="0">
                  <a:spcAft>
                    <a:spcPts val="600"/>
                  </a:spcAft>
                  <a:buNone/>
                </a:pPr>
                <a14:m>
                  <m:oMathPara xmlns:m="http://schemas.openxmlformats.org/officeDocument/2006/math">
                    <m:oMathParaPr>
                      <m:jc m:val="centerGroup"/>
                    </m:oMathParaPr>
                    <m:oMath xmlns:m="http://schemas.openxmlformats.org/officeDocument/2006/math">
                      <m:r>
                        <a:rPr lang="en-US" sz="3200" b="1" i="1">
                          <a:latin typeface="Cambria Math" panose="02040503050406030204" pitchFamily="18" charset="0"/>
                        </a:rPr>
                        <m:t>𝑭</m:t>
                      </m:r>
                      <m:r>
                        <a:rPr lang="en-US" sz="3200" b="1" i="1">
                          <a:latin typeface="Cambria Math" panose="02040503050406030204" pitchFamily="18" charset="0"/>
                        </a:rPr>
                        <m:t>=−</m:t>
                      </m:r>
                      <m:r>
                        <a:rPr lang="en-US" sz="3200" b="1" i="1">
                          <a:latin typeface="Cambria Math" panose="02040503050406030204" pitchFamily="18" charset="0"/>
                        </a:rPr>
                        <m:t>𝒌𝒙</m:t>
                      </m:r>
                    </m:oMath>
                  </m:oMathPara>
                </a14:m>
                <a:endParaRPr lang="en-US" sz="3200" dirty="0"/>
              </a:p>
              <a:p>
                <a:pPr marL="0" indent="0">
                  <a:buNone/>
                </a:pPr>
                <a:endParaRPr lang="en-US" sz="3500" b="1" dirty="0">
                  <a:solidFill>
                    <a:srgbClr val="FF0000"/>
                  </a:solidFill>
                </a:endParaRPr>
              </a:p>
              <a:p>
                <a:endParaRPr lang="en-US" sz="3200" dirty="0"/>
              </a:p>
            </p:txBody>
          </p:sp>
        </mc:Choice>
        <mc:Fallback xmlns="">
          <p:sp>
            <p:nvSpPr>
              <p:cNvPr id="6" name="Content Placeholder 2">
                <a:extLst>
                  <a:ext uri="{FF2B5EF4-FFF2-40B4-BE49-F238E27FC236}">
                    <a16:creationId xmlns:a16="http://schemas.microsoft.com/office/drawing/2014/main" id="{76E67268-EC7F-10AB-1A82-7BC4F2DA4F99}"/>
                  </a:ext>
                </a:extLst>
              </p:cNvPr>
              <p:cNvSpPr txBox="1">
                <a:spLocks noRot="1" noChangeAspect="1" noMove="1" noResize="1" noEditPoints="1" noAdjustHandles="1" noChangeArrowheads="1" noChangeShapeType="1" noTextEdit="1"/>
              </p:cNvSpPr>
              <p:nvPr/>
            </p:nvSpPr>
            <p:spPr>
              <a:xfrm>
                <a:off x="457200" y="1718628"/>
                <a:ext cx="3385595" cy="4049034"/>
              </a:xfrm>
              <a:prstGeom prst="rect">
                <a:avLst/>
              </a:prstGeom>
              <a:blipFill>
                <a:blip r:embed="rId3"/>
                <a:stretch>
                  <a:fillRect l="-4685" t="-3464" r="-1802"/>
                </a:stretch>
              </a:blipFill>
            </p:spPr>
            <p:txBody>
              <a:bodyPr/>
              <a:lstStyle/>
              <a:p>
                <a:r>
                  <a:rPr lang="en-US">
                    <a:noFill/>
                  </a:rPr>
                  <a:t> </a:t>
                </a:r>
              </a:p>
            </p:txBody>
          </p:sp>
        </mc:Fallback>
      </mc:AlternateContent>
      <p:sp>
        <p:nvSpPr>
          <p:cNvPr id="2" name="TextBox 1">
            <a:extLst>
              <a:ext uri="{FF2B5EF4-FFF2-40B4-BE49-F238E27FC236}">
                <a16:creationId xmlns:a16="http://schemas.microsoft.com/office/drawing/2014/main" id="{28872B28-C891-FD13-082C-EF1ADE0C3082}"/>
              </a:ext>
            </a:extLst>
          </p:cNvPr>
          <p:cNvSpPr txBox="1"/>
          <p:nvPr/>
        </p:nvSpPr>
        <p:spPr>
          <a:xfrm>
            <a:off x="9422297" y="1065489"/>
            <a:ext cx="3020488" cy="1661993"/>
          </a:xfrm>
          <a:prstGeom prst="rect">
            <a:avLst/>
          </a:prstGeom>
          <a:noFill/>
        </p:spPr>
        <p:txBody>
          <a:bodyPr wrap="square" rtlCol="0">
            <a:spAutoFit/>
          </a:bodyPr>
          <a:lstStyle/>
          <a:p>
            <a:r>
              <a:rPr lang="en-US" sz="1200" dirty="0">
                <a:solidFill>
                  <a:srgbClr val="1B1B1B"/>
                </a:solidFill>
                <a:latin typeface="Roboto Mono Web"/>
              </a:rPr>
              <a:t>[1] </a:t>
            </a:r>
            <a:r>
              <a:rPr lang="en-US" sz="1200" dirty="0" err="1">
                <a:solidFill>
                  <a:srgbClr val="1B1B1B"/>
                </a:solidFill>
                <a:latin typeface="Roboto Mono Web"/>
              </a:rPr>
              <a:t>Yurchenco</a:t>
            </a:r>
            <a:r>
              <a:rPr lang="en-US" sz="1200" dirty="0">
                <a:solidFill>
                  <a:srgbClr val="1B1B1B"/>
                </a:solidFill>
                <a:latin typeface="Roboto Mono Web"/>
              </a:rPr>
              <a:t> PD, Patton BL. Developmental and pathogenic mechanisms of basement membrane assembly. Curr Pharm Des. 2009;15(12):1277-94. </a:t>
            </a:r>
            <a:r>
              <a:rPr lang="en-US" sz="1200" dirty="0" err="1">
                <a:solidFill>
                  <a:srgbClr val="1B1B1B"/>
                </a:solidFill>
                <a:latin typeface="Roboto Mono Web"/>
              </a:rPr>
              <a:t>doi</a:t>
            </a:r>
            <a:r>
              <a:rPr lang="en-US" sz="1200" dirty="0">
                <a:solidFill>
                  <a:srgbClr val="1B1B1B"/>
                </a:solidFill>
                <a:latin typeface="Roboto Mono Web"/>
              </a:rPr>
              <a:t>: 10.2174/138161209787846766. PMID: 19355968; PMCID: PMC2978668.</a:t>
            </a:r>
          </a:p>
          <a:p>
            <a:endParaRPr lang="en-US" dirty="0"/>
          </a:p>
        </p:txBody>
      </p:sp>
      <p:pic>
        <p:nvPicPr>
          <p:cNvPr id="8" name="Picture 7">
            <a:extLst>
              <a:ext uri="{FF2B5EF4-FFF2-40B4-BE49-F238E27FC236}">
                <a16:creationId xmlns:a16="http://schemas.microsoft.com/office/drawing/2014/main" id="{9112DDE2-A8D2-D150-64EF-E6D9EA791AEA}"/>
              </a:ext>
            </a:extLst>
          </p:cNvPr>
          <p:cNvPicPr>
            <a:picLocks noChangeAspect="1"/>
          </p:cNvPicPr>
          <p:nvPr/>
        </p:nvPicPr>
        <p:blipFill>
          <a:blip r:embed="rId4"/>
          <a:srcRect l="10127" r="13750" b="5923"/>
          <a:stretch>
            <a:fillRect/>
          </a:stretch>
        </p:blipFill>
        <p:spPr>
          <a:xfrm>
            <a:off x="3842795" y="1977508"/>
            <a:ext cx="4701120" cy="4066943"/>
          </a:xfrm>
          <a:prstGeom prst="rect">
            <a:avLst/>
          </a:prstGeom>
        </p:spPr>
      </p:pic>
    </p:spTree>
    <p:extLst>
      <p:ext uri="{BB962C8B-B14F-4D97-AF65-F5344CB8AC3E}">
        <p14:creationId xmlns:p14="http://schemas.microsoft.com/office/powerpoint/2010/main" val="34326702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9F196E-86F8-C57B-BBE3-7B0B597AAAD5}"/>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BB4D4769-2D9B-4109-45AD-30C6C2B68C9C}"/>
              </a:ext>
            </a:extLst>
          </p:cNvPr>
          <p:cNvSpPr>
            <a:spLocks noGrp="1"/>
          </p:cNvSpPr>
          <p:nvPr>
            <p:ph type="title"/>
          </p:nvPr>
        </p:nvSpPr>
        <p:spPr>
          <a:xfrm>
            <a:off x="457200" y="331927"/>
            <a:ext cx="7886700" cy="994172"/>
          </a:xfrm>
        </p:spPr>
        <p:txBody>
          <a:bodyPr>
            <a:noAutofit/>
          </a:bodyPr>
          <a:lstStyle/>
          <a:p>
            <a:r>
              <a:rPr lang="en-US" sz="3200" b="1" dirty="0">
                <a:solidFill>
                  <a:srgbClr val="171C8C"/>
                </a:solidFill>
                <a:latin typeface="Arial" panose="020B0604020202020204" pitchFamily="34" charset="0"/>
                <a:cs typeface="Arial" panose="020B0604020202020204" pitchFamily="34" charset="0"/>
              </a:rPr>
              <a:t>Background: BM Pulling Force</a:t>
            </a:r>
          </a:p>
        </p:txBody>
      </p:sp>
      <p:cxnSp>
        <p:nvCxnSpPr>
          <p:cNvPr id="5" name="Straight Connector 4">
            <a:extLst>
              <a:ext uri="{FF2B5EF4-FFF2-40B4-BE49-F238E27FC236}">
                <a16:creationId xmlns:a16="http://schemas.microsoft.com/office/drawing/2014/main" id="{D53766FA-8E89-3E2C-A930-91B65AF195C7}"/>
              </a:ext>
            </a:extLst>
          </p:cNvPr>
          <p:cNvCxnSpPr/>
          <p:nvPr/>
        </p:nvCxnSpPr>
        <p:spPr>
          <a:xfrm>
            <a:off x="191528" y="1224990"/>
            <a:ext cx="8760941"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1700A5D5-ADBD-8BBD-CB27-F76B67F1F06E}"/>
              </a:ext>
            </a:extLst>
          </p:cNvPr>
          <p:cNvSpPr txBox="1"/>
          <p:nvPr/>
        </p:nvSpPr>
        <p:spPr>
          <a:xfrm>
            <a:off x="5416403" y="5463505"/>
            <a:ext cx="3536066" cy="1223412"/>
          </a:xfrm>
          <a:prstGeom prst="rect">
            <a:avLst/>
          </a:prstGeom>
          <a:noFill/>
        </p:spPr>
        <p:txBody>
          <a:bodyPr wrap="square" rtlCol="0">
            <a:spAutoFit/>
          </a:bodyPr>
          <a:lstStyle/>
          <a:p>
            <a:r>
              <a:rPr lang="en-US" sz="1050" dirty="0"/>
              <a:t>[2] Guerra </a:t>
            </a:r>
            <a:r>
              <a:rPr lang="en-US" sz="1050" dirty="0" err="1"/>
              <a:t>Santillán</a:t>
            </a:r>
            <a:r>
              <a:rPr lang="en-US" sz="1050" dirty="0"/>
              <a:t> KY, et al. PRX Life. 2024. doi:10.1103/PRXLife.2.013004</a:t>
            </a:r>
          </a:p>
          <a:p>
            <a:endParaRPr lang="en-US" sz="1050" dirty="0">
              <a:solidFill>
                <a:srgbClr val="1B1B1B"/>
              </a:solidFill>
              <a:latin typeface="Roboto Mono Web"/>
            </a:endParaRPr>
          </a:p>
          <a:p>
            <a:r>
              <a:rPr lang="en-US" sz="1050" dirty="0">
                <a:solidFill>
                  <a:srgbClr val="1B1B1B"/>
                </a:solidFill>
                <a:latin typeface="Roboto Mono Web"/>
              </a:rPr>
              <a:t>[3] H. Li, et al. Proc. Natl. Acad. Sci. U.S.A. </a:t>
            </a:r>
          </a:p>
          <a:p>
            <a:endParaRPr lang="en-US" sz="1050" dirty="0">
              <a:solidFill>
                <a:srgbClr val="1B1B1B"/>
              </a:solidFill>
              <a:latin typeface="Roboto Mono Web"/>
            </a:endParaRPr>
          </a:p>
          <a:p>
            <a:endParaRPr lang="en-US" sz="1050" dirty="0">
              <a:solidFill>
                <a:srgbClr val="1B1B1B"/>
              </a:solidFill>
              <a:latin typeface="Roboto Mono Web"/>
            </a:endParaRPr>
          </a:p>
          <a:p>
            <a:endParaRPr lang="en-US" sz="1050" dirty="0">
              <a:solidFill>
                <a:srgbClr val="1B1B1B"/>
              </a:solidFill>
              <a:latin typeface="Roboto Mono Web"/>
            </a:endParaRPr>
          </a:p>
        </p:txBody>
      </p:sp>
      <p:pic>
        <p:nvPicPr>
          <p:cNvPr id="6" name="Picture 5">
            <a:extLst>
              <a:ext uri="{FF2B5EF4-FFF2-40B4-BE49-F238E27FC236}">
                <a16:creationId xmlns:a16="http://schemas.microsoft.com/office/drawing/2014/main" id="{9404C37C-E853-C09D-306B-BBCE0ED9403F}"/>
              </a:ext>
            </a:extLst>
          </p:cNvPr>
          <p:cNvPicPr>
            <a:picLocks noChangeAspect="1"/>
          </p:cNvPicPr>
          <p:nvPr/>
        </p:nvPicPr>
        <p:blipFill>
          <a:blip r:embed="rId3"/>
          <a:srcRect r="13254" b="5923"/>
          <a:stretch>
            <a:fillRect/>
          </a:stretch>
        </p:blipFill>
        <p:spPr>
          <a:xfrm>
            <a:off x="3993265" y="1590306"/>
            <a:ext cx="4844006" cy="3677387"/>
          </a:xfrm>
          <a:prstGeom prst="rect">
            <a:avLst/>
          </a:prstGeom>
        </p:spPr>
      </p:pic>
      <p:sp>
        <p:nvSpPr>
          <p:cNvPr id="8" name="Content Placeholder 2">
            <a:extLst>
              <a:ext uri="{FF2B5EF4-FFF2-40B4-BE49-F238E27FC236}">
                <a16:creationId xmlns:a16="http://schemas.microsoft.com/office/drawing/2014/main" id="{84802E41-B5EF-C13D-B7FE-C9C8B52E9644}"/>
              </a:ext>
            </a:extLst>
          </p:cNvPr>
          <p:cNvSpPr txBox="1">
            <a:spLocks/>
          </p:cNvSpPr>
          <p:nvPr/>
        </p:nvSpPr>
        <p:spPr>
          <a:xfrm>
            <a:off x="457200" y="1718628"/>
            <a:ext cx="3536065" cy="4049034"/>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b="0" i="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b="0" i="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spcAft>
                <a:spcPts val="1200"/>
              </a:spcAft>
            </a:pPr>
            <a:r>
              <a:rPr lang="en-US" sz="3500" dirty="0"/>
              <a:t>BM has </a:t>
            </a:r>
            <a:r>
              <a:rPr lang="en-US" sz="3500" b="1" dirty="0">
                <a:solidFill>
                  <a:schemeClr val="tx2"/>
                </a:solidFill>
              </a:rPr>
              <a:t>elastic</a:t>
            </a:r>
            <a:r>
              <a:rPr lang="en-US" sz="3500" dirty="0"/>
              <a:t> properties [2]</a:t>
            </a:r>
          </a:p>
          <a:p>
            <a:r>
              <a:rPr lang="en-US" sz="3200" dirty="0"/>
              <a:t>Elasticity is </a:t>
            </a:r>
            <a:r>
              <a:rPr lang="en-US" sz="3200" b="1" dirty="0">
                <a:solidFill>
                  <a:schemeClr val="tx2"/>
                </a:solidFill>
              </a:rPr>
              <a:t>non-linear </a:t>
            </a:r>
            <a:r>
              <a:rPr lang="en-US" sz="3200" dirty="0"/>
              <a:t>[3]</a:t>
            </a:r>
          </a:p>
          <a:p>
            <a:pPr lvl="1"/>
            <a:r>
              <a:rPr lang="en-US" sz="2900" dirty="0"/>
              <a:t>More deformation requires more force</a:t>
            </a:r>
          </a:p>
          <a:p>
            <a:endParaRPr lang="en-US" sz="3200" dirty="0"/>
          </a:p>
        </p:txBody>
      </p:sp>
      <p:sp>
        <p:nvSpPr>
          <p:cNvPr id="3" name="TextBox 2">
            <a:extLst>
              <a:ext uri="{FF2B5EF4-FFF2-40B4-BE49-F238E27FC236}">
                <a16:creationId xmlns:a16="http://schemas.microsoft.com/office/drawing/2014/main" id="{AF44C2F7-C061-77B3-757F-96867CA45CB7}"/>
              </a:ext>
            </a:extLst>
          </p:cNvPr>
          <p:cNvSpPr txBox="1"/>
          <p:nvPr/>
        </p:nvSpPr>
        <p:spPr>
          <a:xfrm>
            <a:off x="9786870" y="2309795"/>
            <a:ext cx="3302828" cy="1869743"/>
          </a:xfrm>
          <a:prstGeom prst="rect">
            <a:avLst/>
          </a:prstGeom>
          <a:noFill/>
        </p:spPr>
        <p:txBody>
          <a:bodyPr wrap="square" rtlCol="0">
            <a:spAutoFit/>
          </a:bodyPr>
          <a:lstStyle/>
          <a:p>
            <a:r>
              <a:rPr lang="en-US" sz="1050" dirty="0"/>
              <a:t>[2] Guerra </a:t>
            </a:r>
            <a:r>
              <a:rPr lang="en-US" sz="1050" dirty="0" err="1"/>
              <a:t>Santillán</a:t>
            </a:r>
            <a:r>
              <a:rPr lang="en-US" sz="1050" dirty="0"/>
              <a:t> KY, </a:t>
            </a:r>
            <a:r>
              <a:rPr lang="en-US" sz="1050" dirty="0" err="1"/>
              <a:t>Dahmann</a:t>
            </a:r>
            <a:r>
              <a:rPr lang="en-US" sz="1050" dirty="0"/>
              <a:t> C, Fischer-Friedrich E. Elastic Contractile Stress in the Basement Membrane Generates Basal Tension in Epithelia. PRX Life. 2024;2(1):013004. doi:10.1103/PRXLife.2.013004</a:t>
            </a:r>
            <a:endParaRPr lang="en-US" sz="1050" dirty="0">
              <a:solidFill>
                <a:srgbClr val="1B1B1B"/>
              </a:solidFill>
              <a:latin typeface="Roboto Mono Web"/>
            </a:endParaRPr>
          </a:p>
          <a:p>
            <a:endParaRPr lang="en-US" sz="1050" dirty="0">
              <a:solidFill>
                <a:srgbClr val="1B1B1B"/>
              </a:solidFill>
              <a:latin typeface="Roboto Mono Web"/>
            </a:endParaRPr>
          </a:p>
          <a:p>
            <a:r>
              <a:rPr lang="en-US" sz="1050" dirty="0">
                <a:solidFill>
                  <a:srgbClr val="1B1B1B"/>
                </a:solidFill>
                <a:latin typeface="Roboto Mono Web"/>
              </a:rPr>
              <a:t>[3] H. Li, Y. Zheng, Y.L. Han, S. Cai, &amp; M. Guo, Nonlinear elasticity of biological basement membrane revealed by rapid inflation and deflation, Proc. Natl. Acad. Sci. U.S.A. 118 (11) e2022422118, https://doi.org/10.1073/pnas.2022422118 (2021).</a:t>
            </a:r>
          </a:p>
          <a:p>
            <a:endParaRPr lang="en-US" sz="1050" dirty="0">
              <a:solidFill>
                <a:srgbClr val="1B1B1B"/>
              </a:solidFill>
              <a:latin typeface="Roboto Mono Web"/>
            </a:endParaRPr>
          </a:p>
        </p:txBody>
      </p:sp>
      <p:sp>
        <p:nvSpPr>
          <p:cNvPr id="7" name="TextBox 6">
            <a:extLst>
              <a:ext uri="{FF2B5EF4-FFF2-40B4-BE49-F238E27FC236}">
                <a16:creationId xmlns:a16="http://schemas.microsoft.com/office/drawing/2014/main" id="{781C6D4E-9486-FB8A-AA2E-635F227AC921}"/>
              </a:ext>
            </a:extLst>
          </p:cNvPr>
          <p:cNvSpPr txBox="1"/>
          <p:nvPr/>
        </p:nvSpPr>
        <p:spPr>
          <a:xfrm>
            <a:off x="9557357" y="4698503"/>
            <a:ext cx="4960308" cy="261610"/>
          </a:xfrm>
          <a:prstGeom prst="rect">
            <a:avLst/>
          </a:prstGeom>
          <a:noFill/>
        </p:spPr>
        <p:txBody>
          <a:bodyPr wrap="square" rtlCol="0">
            <a:spAutoFit/>
          </a:bodyPr>
          <a:lstStyle/>
          <a:p>
            <a:r>
              <a:rPr lang="en-US" sz="1050" dirty="0">
                <a:solidFill>
                  <a:srgbClr val="1B1B1B"/>
                </a:solidFill>
                <a:latin typeface="Roboto Mono Web"/>
              </a:rPr>
              <a:t>[3] H. Li, et al. Proc. Natl. Acad. Sci. U.S.A. </a:t>
            </a:r>
          </a:p>
        </p:txBody>
      </p:sp>
    </p:spTree>
    <p:extLst>
      <p:ext uri="{BB962C8B-B14F-4D97-AF65-F5344CB8AC3E}">
        <p14:creationId xmlns:p14="http://schemas.microsoft.com/office/powerpoint/2010/main" val="28542644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63F709-2476-4EC3-2B64-2830FF535CBF}"/>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83E2D496-ED17-C78A-0679-2804D7BA7C2B}"/>
              </a:ext>
            </a:extLst>
          </p:cNvPr>
          <p:cNvSpPr>
            <a:spLocks noGrp="1"/>
          </p:cNvSpPr>
          <p:nvPr>
            <p:ph type="title"/>
          </p:nvPr>
        </p:nvSpPr>
        <p:spPr>
          <a:xfrm>
            <a:off x="457200" y="331927"/>
            <a:ext cx="7886700" cy="994172"/>
          </a:xfrm>
        </p:spPr>
        <p:txBody>
          <a:bodyPr>
            <a:noAutofit/>
          </a:bodyPr>
          <a:lstStyle/>
          <a:p>
            <a:r>
              <a:rPr lang="en-US" sz="3200" b="1" dirty="0">
                <a:solidFill>
                  <a:srgbClr val="171C8C"/>
                </a:solidFill>
                <a:latin typeface="Arial" panose="020B0604020202020204" pitchFamily="34" charset="0"/>
                <a:cs typeface="Arial" panose="020B0604020202020204" pitchFamily="34" charset="0"/>
              </a:rPr>
              <a:t>Gaussian Kernel</a:t>
            </a:r>
          </a:p>
        </p:txBody>
      </p:sp>
      <p:cxnSp>
        <p:nvCxnSpPr>
          <p:cNvPr id="5" name="Straight Connector 4">
            <a:extLst>
              <a:ext uri="{FF2B5EF4-FFF2-40B4-BE49-F238E27FC236}">
                <a16:creationId xmlns:a16="http://schemas.microsoft.com/office/drawing/2014/main" id="{B7C753CD-6D7C-CD9D-9584-159C986B7713}"/>
              </a:ext>
            </a:extLst>
          </p:cNvPr>
          <p:cNvCxnSpPr/>
          <p:nvPr/>
        </p:nvCxnSpPr>
        <p:spPr>
          <a:xfrm>
            <a:off x="191528" y="1224990"/>
            <a:ext cx="8760941" cy="0"/>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14EA1FEE-DB02-1241-C978-11C4EFF6F2F8}"/>
                  </a:ext>
                </a:extLst>
              </p:cNvPr>
              <p:cNvSpPr txBox="1">
                <a:spLocks/>
              </p:cNvSpPr>
              <p:nvPr/>
            </p:nvSpPr>
            <p:spPr>
              <a:xfrm>
                <a:off x="457200" y="1849655"/>
                <a:ext cx="6128795" cy="4514486"/>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b="0" i="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b="0" i="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spcAft>
                    <a:spcPts val="2400"/>
                  </a:spcAft>
                  <a:buNone/>
                </a:pPr>
                <a:r>
                  <a:rPr lang="en-US" sz="3200" dirty="0"/>
                  <a:t>Calculate </a:t>
                </a:r>
                <a:r>
                  <a:rPr lang="en-US" sz="3200" b="1" dirty="0">
                    <a:solidFill>
                      <a:schemeClr val="tx2"/>
                    </a:solidFill>
                  </a:rPr>
                  <a:t>each</a:t>
                </a:r>
                <a:r>
                  <a:rPr lang="en-US" sz="3200" dirty="0"/>
                  <a:t> </a:t>
                </a:r>
                <a:r>
                  <a:rPr lang="en-US" sz="3200" b="1" dirty="0">
                    <a:solidFill>
                      <a:schemeClr val="tx2"/>
                    </a:solidFill>
                  </a:rPr>
                  <a:t>node’s</a:t>
                </a:r>
                <a:r>
                  <a:rPr lang="en-US" sz="3200" dirty="0"/>
                  <a:t> weight: </a:t>
                </a:r>
              </a:p>
              <a:p>
                <a:pPr marL="0" indent="0">
                  <a:spcAft>
                    <a:spcPts val="1800"/>
                  </a:spcAft>
                  <a:buNone/>
                </a:pPr>
                <a14:m>
                  <m:oMathPara xmlns:m="http://schemas.openxmlformats.org/officeDocument/2006/math">
                    <m:oMathParaPr>
                      <m:jc m:val="centerGroup"/>
                    </m:oMathParaPr>
                    <m:oMath xmlns:m="http://schemas.openxmlformats.org/officeDocument/2006/math">
                      <m:sSub>
                        <m:sSubPr>
                          <m:ctrlPr>
                            <a:rPr lang="en-US" sz="3200" b="0" i="1" smtClean="0">
                              <a:solidFill>
                                <a:schemeClr val="tx1"/>
                              </a:solidFill>
                              <a:latin typeface="Cambria Math" panose="02040503050406030204" pitchFamily="18" charset="0"/>
                            </a:rPr>
                          </m:ctrlPr>
                        </m:sSubPr>
                        <m:e>
                          <m:r>
                            <a:rPr lang="en-US" sz="3200" b="0" i="1" smtClean="0">
                              <a:solidFill>
                                <a:schemeClr val="tx1"/>
                              </a:solidFill>
                              <a:latin typeface="Cambria Math" panose="02040503050406030204" pitchFamily="18" charset="0"/>
                            </a:rPr>
                            <m:t>𝑤</m:t>
                          </m:r>
                        </m:e>
                        <m:sub>
                          <m:r>
                            <a:rPr lang="en-US" sz="3200" b="0" i="1" smtClean="0">
                              <a:solidFill>
                                <a:schemeClr val="tx1"/>
                              </a:solidFill>
                              <a:latin typeface="Cambria Math" panose="02040503050406030204" pitchFamily="18" charset="0"/>
                            </a:rPr>
                            <m:t>𝑖</m:t>
                          </m:r>
                        </m:sub>
                      </m:sSub>
                      <m:r>
                        <a:rPr lang="en-US" sz="3200" b="0" i="1" smtClean="0">
                          <a:solidFill>
                            <a:schemeClr val="tx1"/>
                          </a:solidFill>
                          <a:latin typeface="Cambria Math" panose="02040503050406030204" pitchFamily="18" charset="0"/>
                        </a:rPr>
                        <m:t>=</m:t>
                      </m:r>
                      <m:func>
                        <m:funcPr>
                          <m:ctrlPr>
                            <a:rPr lang="en-US" sz="3200" b="0" i="1" smtClean="0">
                              <a:solidFill>
                                <a:schemeClr val="tx1"/>
                              </a:solidFill>
                              <a:latin typeface="Cambria Math" panose="02040503050406030204" pitchFamily="18" charset="0"/>
                            </a:rPr>
                          </m:ctrlPr>
                        </m:funcPr>
                        <m:fName>
                          <m:r>
                            <m:rPr>
                              <m:sty m:val="p"/>
                            </m:rPr>
                            <a:rPr lang="en-US" sz="3200" b="0" i="1" smtClean="0">
                              <a:solidFill>
                                <a:schemeClr val="tx1"/>
                              </a:solidFill>
                              <a:latin typeface="Cambria Math" panose="02040503050406030204" pitchFamily="18" charset="0"/>
                            </a:rPr>
                            <m:t>ex</m:t>
                          </m:r>
                          <m:r>
                            <a:rPr lang="en-US" sz="3200" b="0" i="1" smtClean="0">
                              <a:solidFill>
                                <a:schemeClr val="tx1"/>
                              </a:solidFill>
                              <a:latin typeface="Cambria Math" panose="02040503050406030204" pitchFamily="18" charset="0"/>
                            </a:rPr>
                            <m:t>𝑝</m:t>
                          </m:r>
                        </m:fName>
                        <m:e>
                          <m:d>
                            <m:dPr>
                              <m:ctrlPr>
                                <a:rPr lang="en-US" sz="3200" b="0" i="1" smtClean="0">
                                  <a:solidFill>
                                    <a:schemeClr val="tx1"/>
                                  </a:solidFill>
                                  <a:latin typeface="Cambria Math" panose="02040503050406030204" pitchFamily="18" charset="0"/>
                                </a:rPr>
                              </m:ctrlPr>
                            </m:dPr>
                            <m:e>
                              <m:r>
                                <a:rPr lang="en-US" sz="3200" b="0" i="1" smtClean="0">
                                  <a:solidFill>
                                    <a:schemeClr val="tx1"/>
                                  </a:solidFill>
                                  <a:latin typeface="Cambria Math" panose="02040503050406030204" pitchFamily="18" charset="0"/>
                                </a:rPr>
                                <m:t>−</m:t>
                              </m:r>
                              <m:f>
                                <m:fPr>
                                  <m:ctrlPr>
                                    <a:rPr lang="en-US" sz="3200" i="1">
                                      <a:latin typeface="Cambria Math" panose="02040503050406030204" pitchFamily="18" charset="0"/>
                                    </a:rPr>
                                  </m:ctrlPr>
                                </m:fPr>
                                <m:num>
                                  <m:sSup>
                                    <m:sSupPr>
                                      <m:ctrlPr>
                                        <a:rPr lang="en-US" sz="3200" b="0" i="1" smtClean="0">
                                          <a:latin typeface="Cambria Math" panose="02040503050406030204" pitchFamily="18" charset="0"/>
                                        </a:rPr>
                                      </m:ctrlPr>
                                    </m:sSupPr>
                                    <m:e>
                                      <m:d>
                                        <m:dPr>
                                          <m:begChr m:val="‖"/>
                                          <m:endChr m:val="‖"/>
                                          <m:ctrlPr>
                                            <a:rPr lang="en-US" sz="3200" b="0" i="1" smtClean="0">
                                              <a:latin typeface="Cambria Math" panose="02040503050406030204" pitchFamily="18" charset="0"/>
                                            </a:rPr>
                                          </m:ctrlPr>
                                        </m:dPr>
                                        <m:e>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𝑏</m:t>
                                              </m:r>
                                            </m:e>
                                            <m:sub>
                                              <m:r>
                                                <a:rPr lang="en-US" sz="3200" b="0" i="1" smtClean="0">
                                                  <a:latin typeface="Cambria Math" panose="02040503050406030204" pitchFamily="18" charset="0"/>
                                                </a:rPr>
                                                <m:t>𝑖</m:t>
                                              </m:r>
                                            </m:sub>
                                          </m:sSub>
                                          <m:r>
                                            <a:rPr lang="en-US" sz="3200" b="0" i="1" smtClean="0">
                                              <a:latin typeface="Cambria Math" panose="02040503050406030204" pitchFamily="18" charset="0"/>
                                            </a:rPr>
                                            <m:t> − </m:t>
                                          </m:r>
                                          <m:r>
                                            <m:rPr>
                                              <m:sty m:val="p"/>
                                            </m:rPr>
                                            <a:rPr lang="en-US" sz="3200" b="0" i="1" smtClean="0">
                                              <a:latin typeface="Cambria Math" panose="02040503050406030204" pitchFamily="18" charset="0"/>
                                            </a:rPr>
                                            <m:t>p</m:t>
                                          </m:r>
                                        </m:e>
                                      </m:d>
                                    </m:e>
                                    <m:sup>
                                      <m:r>
                                        <a:rPr lang="en-US" sz="3200" b="0" i="1" smtClean="0">
                                          <a:latin typeface="Cambria Math" panose="02040503050406030204" pitchFamily="18" charset="0"/>
                                        </a:rPr>
                                        <m:t>2</m:t>
                                      </m:r>
                                    </m:sup>
                                  </m:sSup>
                                </m:num>
                                <m:den>
                                  <m:d>
                                    <m:dPr>
                                      <m:ctrlPr>
                                        <a:rPr lang="en-US" sz="3200" i="1">
                                          <a:latin typeface="Cambria Math" panose="02040503050406030204" pitchFamily="18" charset="0"/>
                                        </a:rPr>
                                      </m:ctrlPr>
                                    </m:dPr>
                                    <m:e>
                                      <m:r>
                                        <a:rPr lang="en-US" sz="3200" i="1">
                                          <a:latin typeface="Cambria Math" panose="02040503050406030204" pitchFamily="18" charset="0"/>
                                        </a:rPr>
                                        <m:t>2</m:t>
                                      </m:r>
                                      <m:sSup>
                                        <m:sSupPr>
                                          <m:ctrlPr>
                                            <a:rPr lang="en-US" sz="3200" i="1">
                                              <a:latin typeface="Cambria Math" panose="02040503050406030204" pitchFamily="18" charset="0"/>
                                            </a:rPr>
                                          </m:ctrlPr>
                                        </m:sSupPr>
                                        <m:e>
                                          <m:r>
                                            <a:rPr lang="en-US" sz="3200" i="1">
                                              <a:latin typeface="Cambria Math" panose="02040503050406030204" pitchFamily="18" charset="0"/>
                                            </a:rPr>
                                            <m:t>𝜎</m:t>
                                          </m:r>
                                        </m:e>
                                        <m:sup>
                                          <m:r>
                                            <a:rPr lang="en-US" sz="3200" i="1">
                                              <a:latin typeface="Cambria Math" panose="02040503050406030204" pitchFamily="18" charset="0"/>
                                            </a:rPr>
                                            <m:t>2</m:t>
                                          </m:r>
                                        </m:sup>
                                      </m:sSup>
                                    </m:e>
                                  </m:d>
                                </m:den>
                              </m:f>
                            </m:e>
                          </m:d>
                        </m:e>
                      </m:func>
                    </m:oMath>
                  </m:oMathPara>
                </a14:m>
                <a:endParaRPr lang="en-US" sz="3200" dirty="0">
                  <a:solidFill>
                    <a:srgbClr val="FF0000"/>
                  </a:solidFill>
                </a:endParaRPr>
              </a:p>
              <a:p>
                <a:pPr marL="0" indent="0">
                  <a:spcAft>
                    <a:spcPts val="1800"/>
                  </a:spcAft>
                  <a:buNone/>
                </a:pPr>
                <a:r>
                  <a:rPr lang="en-US" sz="3200" dirty="0"/>
                  <a:t>W</a:t>
                </a:r>
                <a:r>
                  <a:rPr lang="en-US" sz="3200" dirty="0">
                    <a:solidFill>
                      <a:schemeClr val="tx1"/>
                    </a:solidFill>
                  </a:rPr>
                  <a:t>here </a:t>
                </a:r>
                <a14:m>
                  <m:oMath xmlns:m="http://schemas.openxmlformats.org/officeDocument/2006/math">
                    <m:sSub>
                      <m:sSubPr>
                        <m:ctrlPr>
                          <a:rPr lang="en-US" sz="3200" b="1" i="1" smtClean="0">
                            <a:solidFill>
                              <a:schemeClr val="tx2"/>
                            </a:solidFill>
                            <a:latin typeface="Cambria Math" panose="02040503050406030204" pitchFamily="18" charset="0"/>
                          </a:rPr>
                        </m:ctrlPr>
                      </m:sSubPr>
                      <m:e>
                        <m:r>
                          <a:rPr lang="en-US" sz="3200" b="1" i="1" smtClean="0">
                            <a:solidFill>
                              <a:schemeClr val="tx2"/>
                            </a:solidFill>
                            <a:latin typeface="Cambria Math" panose="02040503050406030204" pitchFamily="18" charset="0"/>
                          </a:rPr>
                          <m:t>𝒃</m:t>
                        </m:r>
                      </m:e>
                      <m:sub>
                        <m:r>
                          <a:rPr lang="en-US" sz="3200" b="1" i="1" smtClean="0">
                            <a:solidFill>
                              <a:schemeClr val="tx2"/>
                            </a:solidFill>
                            <a:latin typeface="Cambria Math" panose="02040503050406030204" pitchFamily="18" charset="0"/>
                          </a:rPr>
                          <m:t>𝒊</m:t>
                        </m:r>
                      </m:sub>
                    </m:sSub>
                    <m:r>
                      <a:rPr lang="en-US" sz="3200" b="0" i="0" smtClean="0">
                        <a:solidFill>
                          <a:schemeClr val="tx1"/>
                        </a:solidFill>
                        <a:latin typeface="Cambria Math" panose="02040503050406030204" pitchFamily="18" charset="0"/>
                      </a:rPr>
                      <m:t>,</m:t>
                    </m:r>
                    <m:r>
                      <a:rPr lang="en-US" sz="3200" b="1" i="0" smtClean="0">
                        <a:solidFill>
                          <a:schemeClr val="tx2"/>
                        </a:solidFill>
                        <a:latin typeface="Cambria Math" panose="02040503050406030204" pitchFamily="18" charset="0"/>
                      </a:rPr>
                      <m:t>𝐩</m:t>
                    </m:r>
                    <m:r>
                      <a:rPr lang="en-US" sz="3200" b="0" i="1" smtClean="0">
                        <a:solidFill>
                          <a:schemeClr val="tx1"/>
                        </a:solidFill>
                        <a:latin typeface="Cambria Math" panose="02040503050406030204" pitchFamily="18" charset="0"/>
                      </a:rPr>
                      <m:t>∈</m:t>
                    </m:r>
                    <m:sSup>
                      <m:sSupPr>
                        <m:ctrlPr>
                          <a:rPr lang="en-US" sz="3200" b="0" i="1" smtClean="0">
                            <a:solidFill>
                              <a:schemeClr val="tx1"/>
                            </a:solidFill>
                            <a:latin typeface="Cambria Math" panose="02040503050406030204" pitchFamily="18" charset="0"/>
                            <a:ea typeface="Cambria Math" panose="02040503050406030204" pitchFamily="18" charset="0"/>
                          </a:rPr>
                        </m:ctrlPr>
                      </m:sSupPr>
                      <m:e>
                        <m:r>
                          <a:rPr lang="en-US" sz="3200" b="0" i="1" smtClean="0">
                            <a:solidFill>
                              <a:schemeClr val="tx1"/>
                            </a:solidFill>
                            <a:latin typeface="Cambria Math" panose="02040503050406030204" pitchFamily="18" charset="0"/>
                            <a:ea typeface="Cambria Math" panose="02040503050406030204" pitchFamily="18" charset="0"/>
                          </a:rPr>
                          <m:t>ℝ</m:t>
                        </m:r>
                      </m:e>
                      <m:sup>
                        <m:r>
                          <a:rPr lang="en-US" sz="3200" b="0" i="1" smtClean="0">
                            <a:solidFill>
                              <a:schemeClr val="tx1"/>
                            </a:solidFill>
                            <a:latin typeface="Cambria Math" panose="02040503050406030204" pitchFamily="18" charset="0"/>
                            <a:ea typeface="Cambria Math" panose="02040503050406030204" pitchFamily="18" charset="0"/>
                          </a:rPr>
                          <m:t>3</m:t>
                        </m:r>
                      </m:sup>
                    </m:sSup>
                    <m:r>
                      <a:rPr lang="en-US" sz="3200" b="0" i="0" smtClean="0">
                        <a:solidFill>
                          <a:schemeClr val="tx1"/>
                        </a:solidFill>
                        <a:latin typeface="Cambria Math" panose="02040503050406030204" pitchFamily="18" charset="0"/>
                        <a:ea typeface="Cambria Math" panose="02040503050406030204" pitchFamily="18" charset="0"/>
                      </a:rPr>
                      <m:t>.</m:t>
                    </m:r>
                  </m:oMath>
                </a14:m>
                <a:r>
                  <a:rPr lang="en-US" sz="3200" dirty="0">
                    <a:solidFill>
                      <a:schemeClr val="tx1"/>
                    </a:solidFill>
                  </a:rPr>
                  <a:t> Here </a:t>
                </a:r>
                <a14:m>
                  <m:oMath xmlns:m="http://schemas.openxmlformats.org/officeDocument/2006/math">
                    <m:sSub>
                      <m:sSubPr>
                        <m:ctrlPr>
                          <a:rPr lang="en-US" sz="3200" b="1" i="1" smtClean="0">
                            <a:solidFill>
                              <a:schemeClr val="tx2"/>
                            </a:solidFill>
                            <a:latin typeface="Cambria Math" panose="02040503050406030204" pitchFamily="18" charset="0"/>
                          </a:rPr>
                        </m:ctrlPr>
                      </m:sSubPr>
                      <m:e>
                        <m:r>
                          <a:rPr lang="en-US" sz="3200" b="1" i="1" smtClean="0">
                            <a:solidFill>
                              <a:schemeClr val="tx2"/>
                            </a:solidFill>
                            <a:latin typeface="Cambria Math" panose="02040503050406030204" pitchFamily="18" charset="0"/>
                          </a:rPr>
                          <m:t>𝒃</m:t>
                        </m:r>
                      </m:e>
                      <m:sub>
                        <m:r>
                          <a:rPr lang="en-US" sz="3200" b="1" i="1" smtClean="0">
                            <a:solidFill>
                              <a:schemeClr val="tx2"/>
                            </a:solidFill>
                            <a:latin typeface="Cambria Math" panose="02040503050406030204" pitchFamily="18" charset="0"/>
                          </a:rPr>
                          <m:t>𝒊</m:t>
                        </m:r>
                        <m:r>
                          <a:rPr lang="en-US" sz="3200" b="1" i="1" smtClean="0">
                            <a:solidFill>
                              <a:schemeClr val="tx2"/>
                            </a:solidFill>
                            <a:latin typeface="Cambria Math" panose="02040503050406030204" pitchFamily="18" charset="0"/>
                          </a:rPr>
                          <m:t> </m:t>
                        </m:r>
                      </m:sub>
                    </m:sSub>
                  </m:oMath>
                </a14:m>
                <a:r>
                  <a:rPr lang="en-US" sz="3200" dirty="0">
                    <a:solidFill>
                      <a:schemeClr val="tx1"/>
                    </a:solidFill>
                  </a:rPr>
                  <a:t>are nodes nearby node </a:t>
                </a:r>
                <a14:m>
                  <m:oMath xmlns:m="http://schemas.openxmlformats.org/officeDocument/2006/math">
                    <m:r>
                      <a:rPr lang="en-US" sz="3200" b="1" i="1" smtClean="0">
                        <a:solidFill>
                          <a:schemeClr val="tx2"/>
                        </a:solidFill>
                        <a:latin typeface="Cambria Math" panose="02040503050406030204" pitchFamily="18" charset="0"/>
                      </a:rPr>
                      <m:t>𝒑</m:t>
                    </m:r>
                    <m:r>
                      <a:rPr lang="en-US" sz="3200" b="1" i="1" smtClean="0">
                        <a:solidFill>
                          <a:schemeClr val="tx2"/>
                        </a:solidFill>
                        <a:latin typeface="Cambria Math" panose="02040503050406030204" pitchFamily="18" charset="0"/>
                      </a:rPr>
                      <m:t>.</m:t>
                    </m:r>
                  </m:oMath>
                </a14:m>
                <a:endParaRPr lang="en-US" sz="3200" b="1" dirty="0">
                  <a:solidFill>
                    <a:schemeClr val="tx2"/>
                  </a:solidFill>
                </a:endParaRPr>
              </a:p>
              <a:p>
                <a:pPr marL="0" indent="0">
                  <a:spcAft>
                    <a:spcPts val="1800"/>
                  </a:spcAft>
                  <a:buNone/>
                </a:pPr>
                <a:r>
                  <a:rPr lang="en-US" sz="3200" b="1" dirty="0">
                    <a:solidFill>
                      <a:schemeClr val="tx2"/>
                    </a:solidFill>
                  </a:rPr>
                  <a:t> </a:t>
                </a:r>
              </a:p>
              <a:p>
                <a:pPr marL="0" indent="0">
                  <a:spcAft>
                    <a:spcPts val="1800"/>
                  </a:spcAft>
                  <a:buNone/>
                </a:pPr>
                <a:endParaRPr lang="en-US" sz="3200" dirty="0"/>
              </a:p>
              <a:p>
                <a:pPr marL="0" indent="0">
                  <a:buNone/>
                </a:pPr>
                <a:endParaRPr lang="en-US" sz="3200" dirty="0"/>
              </a:p>
              <a:p>
                <a:pPr marL="0" indent="0">
                  <a:buNone/>
                </a:pPr>
                <a:endParaRPr lang="en-US" sz="3200" dirty="0"/>
              </a:p>
              <a:p>
                <a:endParaRPr lang="en-US" sz="3200" dirty="0"/>
              </a:p>
            </p:txBody>
          </p:sp>
        </mc:Choice>
        <mc:Fallback xmlns="">
          <p:sp>
            <p:nvSpPr>
              <p:cNvPr id="4" name="Content Placeholder 2">
                <a:extLst>
                  <a:ext uri="{FF2B5EF4-FFF2-40B4-BE49-F238E27FC236}">
                    <a16:creationId xmlns:a16="http://schemas.microsoft.com/office/drawing/2014/main" id="{14EA1FEE-DB02-1241-C978-11C4EFF6F2F8}"/>
                  </a:ext>
                </a:extLst>
              </p:cNvPr>
              <p:cNvSpPr txBox="1">
                <a:spLocks noRot="1" noChangeAspect="1" noMove="1" noResize="1" noEditPoints="1" noAdjustHandles="1" noChangeArrowheads="1" noChangeShapeType="1" noTextEdit="1"/>
              </p:cNvSpPr>
              <p:nvPr/>
            </p:nvSpPr>
            <p:spPr>
              <a:xfrm>
                <a:off x="457200" y="1849655"/>
                <a:ext cx="6128795" cy="4514486"/>
              </a:xfrm>
              <a:prstGeom prst="rect">
                <a:avLst/>
              </a:prstGeom>
              <a:blipFill>
                <a:blip r:embed="rId3"/>
                <a:stretch>
                  <a:fillRect l="-2488" t="-283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6A9BE1EB-FA50-55F1-080A-208B7A809983}"/>
                  </a:ext>
                </a:extLst>
              </p:cNvPr>
              <p:cNvSpPr txBox="1"/>
              <p:nvPr/>
            </p:nvSpPr>
            <p:spPr>
              <a:xfrm>
                <a:off x="9340770" y="4872943"/>
                <a:ext cx="2974693" cy="7375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𝑊</m:t>
                          </m:r>
                        </m:e>
                        <m:sub>
                          <m:r>
                            <a:rPr lang="en-US" i="1">
                              <a:latin typeface="Cambria Math" panose="02040503050406030204" pitchFamily="18" charset="0"/>
                            </a:rPr>
                            <m:t>𝑖</m:t>
                          </m:r>
                        </m:sub>
                      </m:sSub>
                      <m:r>
                        <a:rPr lang="en-US" i="1">
                          <a:latin typeface="Cambria Math" panose="02040503050406030204" pitchFamily="18" charset="0"/>
                        </a:rPr>
                        <m:t>=</m:t>
                      </m:r>
                      <m:d>
                        <m:dPr>
                          <m:ctrlPr>
                            <a:rPr lang="en-US" i="1">
                              <a:latin typeface="Cambria Math" panose="02040503050406030204" pitchFamily="18" charset="0"/>
                            </a:rPr>
                          </m:ctrlPr>
                        </m:dPr>
                        <m:e>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𝑤</m:t>
                                  </m:r>
                                </m:e>
                                <m:sub>
                                  <m:r>
                                    <a:rPr lang="en-US" i="1">
                                      <a:latin typeface="Cambria Math" panose="02040503050406030204" pitchFamily="18" charset="0"/>
                                    </a:rPr>
                                    <m:t>𝑖</m:t>
                                  </m:r>
                                </m:sub>
                              </m:sSub>
                            </m:num>
                            <m:den>
                              <m:nary>
                                <m:naryPr>
                                  <m:chr m:val="∑"/>
                                  <m:supHide m:val="on"/>
                                  <m:ctrlPr>
                                    <a:rPr lang="en-US" i="1">
                                      <a:latin typeface="Cambria Math" panose="02040503050406030204" pitchFamily="18" charset="0"/>
                                    </a:rPr>
                                  </m:ctrlPr>
                                </m:naryPr>
                                <m:sub>
                                  <m:r>
                                    <a:rPr lang="en-US" i="1">
                                      <a:latin typeface="Cambria Math" panose="02040503050406030204" pitchFamily="18" charset="0"/>
                                    </a:rPr>
                                    <m:t>𝑗</m:t>
                                  </m:r>
                                </m:sub>
                                <m:sup/>
                                <m:e>
                                  <m:sSub>
                                    <m:sSubPr>
                                      <m:ctrlPr>
                                        <a:rPr lang="en-US" i="1">
                                          <a:latin typeface="Cambria Math" panose="02040503050406030204" pitchFamily="18" charset="0"/>
                                        </a:rPr>
                                      </m:ctrlPr>
                                    </m:sSubPr>
                                    <m:e>
                                      <m:r>
                                        <a:rPr lang="en-US" i="1">
                                          <a:latin typeface="Cambria Math" panose="02040503050406030204" pitchFamily="18" charset="0"/>
                                        </a:rPr>
                                        <m:t>𝑤</m:t>
                                      </m:r>
                                    </m:e>
                                    <m:sub>
                                      <m:r>
                                        <a:rPr lang="en-US" i="1">
                                          <a:latin typeface="Cambria Math" panose="02040503050406030204" pitchFamily="18" charset="0"/>
                                        </a:rPr>
                                        <m:t>𝑗</m:t>
                                      </m:r>
                                    </m:sub>
                                  </m:sSub>
                                </m:e>
                              </m:nary>
                            </m:den>
                          </m:f>
                        </m:e>
                      </m:d>
                    </m:oMath>
                  </m:oMathPara>
                </a14:m>
                <a:endParaRPr lang="en-US" dirty="0"/>
              </a:p>
            </p:txBody>
          </p:sp>
        </mc:Choice>
        <mc:Fallback xmlns="">
          <p:sp>
            <p:nvSpPr>
              <p:cNvPr id="13" name="TextBox 12">
                <a:extLst>
                  <a:ext uri="{FF2B5EF4-FFF2-40B4-BE49-F238E27FC236}">
                    <a16:creationId xmlns:a16="http://schemas.microsoft.com/office/drawing/2014/main" id="{6A9BE1EB-FA50-55F1-080A-208B7A809983}"/>
                  </a:ext>
                </a:extLst>
              </p:cNvPr>
              <p:cNvSpPr txBox="1">
                <a:spLocks noRot="1" noChangeAspect="1" noMove="1" noResize="1" noEditPoints="1" noAdjustHandles="1" noChangeArrowheads="1" noChangeShapeType="1" noTextEdit="1"/>
              </p:cNvSpPr>
              <p:nvPr/>
            </p:nvSpPr>
            <p:spPr>
              <a:xfrm>
                <a:off x="9340770" y="4872943"/>
                <a:ext cx="2974693" cy="737510"/>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881073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CED94E-2E58-C319-9E34-B67D96D68E5D}"/>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8CE4C788-394B-205E-F88A-725D97CCC54F}"/>
              </a:ext>
            </a:extLst>
          </p:cNvPr>
          <p:cNvSpPr>
            <a:spLocks noGrp="1"/>
          </p:cNvSpPr>
          <p:nvPr>
            <p:ph type="title"/>
          </p:nvPr>
        </p:nvSpPr>
        <p:spPr>
          <a:xfrm>
            <a:off x="457200" y="331927"/>
            <a:ext cx="7886700" cy="994172"/>
          </a:xfrm>
        </p:spPr>
        <p:txBody>
          <a:bodyPr>
            <a:noAutofit/>
          </a:bodyPr>
          <a:lstStyle/>
          <a:p>
            <a:r>
              <a:rPr lang="en-US" sz="3200" b="1" dirty="0">
                <a:solidFill>
                  <a:srgbClr val="171C8C"/>
                </a:solidFill>
                <a:latin typeface="Arial" panose="020B0604020202020204" pitchFamily="34" charset="0"/>
                <a:cs typeface="Arial" panose="020B0604020202020204" pitchFamily="34" charset="0"/>
              </a:rPr>
              <a:t>Repulsive Force</a:t>
            </a:r>
          </a:p>
        </p:txBody>
      </p:sp>
      <p:cxnSp>
        <p:nvCxnSpPr>
          <p:cNvPr id="5" name="Straight Connector 4">
            <a:extLst>
              <a:ext uri="{FF2B5EF4-FFF2-40B4-BE49-F238E27FC236}">
                <a16:creationId xmlns:a16="http://schemas.microsoft.com/office/drawing/2014/main" id="{24BC1CA8-DBCE-F914-4917-D924A89B9F96}"/>
              </a:ext>
            </a:extLst>
          </p:cNvPr>
          <p:cNvCxnSpPr/>
          <p:nvPr/>
        </p:nvCxnSpPr>
        <p:spPr>
          <a:xfrm>
            <a:off x="191528" y="1224990"/>
            <a:ext cx="8760941" cy="0"/>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348D79D2-48BF-4A30-AF82-F0A233494F31}"/>
              </a:ext>
            </a:extLst>
          </p:cNvPr>
          <p:cNvPicPr>
            <a:picLocks noChangeAspect="1"/>
          </p:cNvPicPr>
          <p:nvPr/>
        </p:nvPicPr>
        <p:blipFill>
          <a:blip r:embed="rId3"/>
          <a:srcRect l="19179" b="6341"/>
          <a:stretch>
            <a:fillRect/>
          </a:stretch>
        </p:blipFill>
        <p:spPr>
          <a:xfrm>
            <a:off x="4333893" y="2118054"/>
            <a:ext cx="4618576" cy="3746491"/>
          </a:xfrm>
          <a:prstGeom prst="rect">
            <a:avLst/>
          </a:prstGeom>
        </p:spPr>
      </p:pic>
      <p:sp>
        <p:nvSpPr>
          <p:cNvPr id="3" name="Content Placeholder 2">
            <a:extLst>
              <a:ext uri="{FF2B5EF4-FFF2-40B4-BE49-F238E27FC236}">
                <a16:creationId xmlns:a16="http://schemas.microsoft.com/office/drawing/2014/main" id="{FA85885A-AD1C-108F-5F14-0EF3EB559ABA}"/>
              </a:ext>
            </a:extLst>
          </p:cNvPr>
          <p:cNvSpPr txBox="1">
            <a:spLocks/>
          </p:cNvSpPr>
          <p:nvPr/>
        </p:nvSpPr>
        <p:spPr>
          <a:xfrm>
            <a:off x="457199" y="1788090"/>
            <a:ext cx="3723145" cy="3844911"/>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b="0" i="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b="0" i="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spcAft>
                <a:spcPts val="1200"/>
              </a:spcAft>
            </a:pPr>
            <a:r>
              <a:rPr lang="en-US" sz="3500" dirty="0"/>
              <a:t>BM serves as a </a:t>
            </a:r>
            <a:r>
              <a:rPr lang="en-US" sz="3500" b="1" dirty="0">
                <a:solidFill>
                  <a:schemeClr val="tx2"/>
                </a:solidFill>
              </a:rPr>
              <a:t>physical barrier</a:t>
            </a:r>
          </a:p>
          <a:p>
            <a:r>
              <a:rPr lang="en-US" sz="3500" dirty="0"/>
              <a:t>Rupturing of BM is hallmark of </a:t>
            </a:r>
            <a:r>
              <a:rPr lang="en-US" sz="3500" b="1" dirty="0">
                <a:solidFill>
                  <a:schemeClr val="tx2"/>
                </a:solidFill>
              </a:rPr>
              <a:t>PDAC</a:t>
            </a:r>
            <a:r>
              <a:rPr lang="en-US" sz="3500" b="1" dirty="0"/>
              <a:t> </a:t>
            </a:r>
            <a:r>
              <a:rPr lang="en-US" sz="3500" b="1" dirty="0">
                <a:solidFill>
                  <a:schemeClr val="tx2"/>
                </a:solidFill>
              </a:rPr>
              <a:t>development </a:t>
            </a:r>
            <a:r>
              <a:rPr lang="en-US" sz="3500" dirty="0"/>
              <a:t>(future work)</a:t>
            </a:r>
          </a:p>
        </p:txBody>
      </p:sp>
    </p:spTree>
    <p:extLst>
      <p:ext uri="{BB962C8B-B14F-4D97-AF65-F5344CB8AC3E}">
        <p14:creationId xmlns:p14="http://schemas.microsoft.com/office/powerpoint/2010/main" val="36064672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0FA3A-DC02-1DBB-CD71-9107138EFB47}"/>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8F008622-7D15-E78A-DD99-99C6F2BCCF5C}"/>
              </a:ext>
            </a:extLst>
          </p:cNvPr>
          <p:cNvSpPr>
            <a:spLocks noGrp="1"/>
          </p:cNvSpPr>
          <p:nvPr>
            <p:ph type="title"/>
          </p:nvPr>
        </p:nvSpPr>
        <p:spPr>
          <a:xfrm>
            <a:off x="457200" y="331927"/>
            <a:ext cx="7886700" cy="994172"/>
          </a:xfrm>
        </p:spPr>
        <p:txBody>
          <a:bodyPr>
            <a:noAutofit/>
          </a:bodyPr>
          <a:lstStyle/>
          <a:p>
            <a:r>
              <a:rPr lang="en-US" sz="3200" b="1" dirty="0">
                <a:solidFill>
                  <a:srgbClr val="171C8C"/>
                </a:solidFill>
                <a:latin typeface="Arial" panose="020B0604020202020204" pitchFamily="34" charset="0"/>
                <a:cs typeface="Arial" panose="020B0604020202020204" pitchFamily="34" charset="0"/>
              </a:rPr>
              <a:t>Epithelial Cell Division</a:t>
            </a:r>
          </a:p>
        </p:txBody>
      </p:sp>
      <p:cxnSp>
        <p:nvCxnSpPr>
          <p:cNvPr id="5" name="Straight Connector 4">
            <a:extLst>
              <a:ext uri="{FF2B5EF4-FFF2-40B4-BE49-F238E27FC236}">
                <a16:creationId xmlns:a16="http://schemas.microsoft.com/office/drawing/2014/main" id="{2CDFE73D-0BEA-2073-C5EF-5F2B65169872}"/>
              </a:ext>
            </a:extLst>
          </p:cNvPr>
          <p:cNvCxnSpPr/>
          <p:nvPr/>
        </p:nvCxnSpPr>
        <p:spPr>
          <a:xfrm>
            <a:off x="191528" y="1224990"/>
            <a:ext cx="8760941" cy="0"/>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E9D7792B-9DC2-1A16-6C1B-E027A51A73C8}"/>
              </a:ext>
            </a:extLst>
          </p:cNvPr>
          <p:cNvPicPr>
            <a:picLocks noChangeAspect="1"/>
          </p:cNvPicPr>
          <p:nvPr/>
        </p:nvPicPr>
        <p:blipFill>
          <a:blip r:embed="rId3"/>
          <a:stretch>
            <a:fillRect/>
          </a:stretch>
        </p:blipFill>
        <p:spPr>
          <a:xfrm>
            <a:off x="1309685" y="1505085"/>
            <a:ext cx="6524625" cy="4333875"/>
          </a:xfrm>
          <a:prstGeom prst="rect">
            <a:avLst/>
          </a:prstGeom>
        </p:spPr>
      </p:pic>
      <p:sp>
        <p:nvSpPr>
          <p:cNvPr id="2" name="TextBox 1">
            <a:extLst>
              <a:ext uri="{FF2B5EF4-FFF2-40B4-BE49-F238E27FC236}">
                <a16:creationId xmlns:a16="http://schemas.microsoft.com/office/drawing/2014/main" id="{ABD668AD-9EAD-AE15-F43A-25B3568B7279}"/>
              </a:ext>
            </a:extLst>
          </p:cNvPr>
          <p:cNvSpPr txBox="1"/>
          <p:nvPr/>
        </p:nvSpPr>
        <p:spPr>
          <a:xfrm>
            <a:off x="3311737" y="6017946"/>
            <a:ext cx="4522573" cy="276999"/>
          </a:xfrm>
          <a:prstGeom prst="rect">
            <a:avLst/>
          </a:prstGeom>
          <a:noFill/>
        </p:spPr>
        <p:txBody>
          <a:bodyPr wrap="square" rtlCol="0">
            <a:spAutoFit/>
          </a:bodyPr>
          <a:lstStyle/>
          <a:p>
            <a:r>
              <a:rPr lang="en-US" sz="1200" dirty="0"/>
              <a:t>Heisenberg, CP. Stretched divisions. </a:t>
            </a:r>
            <a:r>
              <a:rPr lang="en-US" sz="1200" i="1" dirty="0"/>
              <a:t>Nature</a:t>
            </a:r>
            <a:r>
              <a:rPr lang="en-US" sz="1200" dirty="0"/>
              <a:t> </a:t>
            </a:r>
            <a:r>
              <a:rPr lang="en-US" sz="1200" b="1" dirty="0"/>
              <a:t>543</a:t>
            </a:r>
            <a:r>
              <a:rPr lang="en-US" sz="1200" dirty="0"/>
              <a:t>, 43–44 (2017).</a:t>
            </a:r>
          </a:p>
        </p:txBody>
      </p:sp>
    </p:spTree>
    <p:extLst>
      <p:ext uri="{BB962C8B-B14F-4D97-AF65-F5344CB8AC3E}">
        <p14:creationId xmlns:p14="http://schemas.microsoft.com/office/powerpoint/2010/main" val="12424390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163F9-E0A0-E3DD-1AB0-F029DB110A90}"/>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6708EBF1-A680-6017-250C-4A92440A8513}"/>
              </a:ext>
            </a:extLst>
          </p:cNvPr>
          <p:cNvSpPr>
            <a:spLocks noGrp="1"/>
          </p:cNvSpPr>
          <p:nvPr>
            <p:ph type="title"/>
          </p:nvPr>
        </p:nvSpPr>
        <p:spPr>
          <a:xfrm>
            <a:off x="457200" y="331927"/>
            <a:ext cx="7886700" cy="994172"/>
          </a:xfrm>
        </p:spPr>
        <p:txBody>
          <a:bodyPr>
            <a:noAutofit/>
          </a:bodyPr>
          <a:lstStyle/>
          <a:p>
            <a:r>
              <a:rPr lang="en-US" sz="3200" b="1" dirty="0">
                <a:solidFill>
                  <a:srgbClr val="171C8C"/>
                </a:solidFill>
                <a:latin typeface="Arial" panose="020B0604020202020204" pitchFamily="34" charset="0"/>
                <a:cs typeface="Arial" panose="020B0604020202020204" pitchFamily="34" charset="0"/>
              </a:rPr>
              <a:t>Parallel Cell Division: Stretching</a:t>
            </a:r>
          </a:p>
        </p:txBody>
      </p:sp>
      <p:cxnSp>
        <p:nvCxnSpPr>
          <p:cNvPr id="5" name="Straight Connector 4">
            <a:extLst>
              <a:ext uri="{FF2B5EF4-FFF2-40B4-BE49-F238E27FC236}">
                <a16:creationId xmlns:a16="http://schemas.microsoft.com/office/drawing/2014/main" id="{15DA2468-0034-F003-65D7-A67D47B4E1AC}"/>
              </a:ext>
            </a:extLst>
          </p:cNvPr>
          <p:cNvCxnSpPr/>
          <p:nvPr/>
        </p:nvCxnSpPr>
        <p:spPr>
          <a:xfrm>
            <a:off x="191528" y="1224990"/>
            <a:ext cx="8760941" cy="0"/>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6" name="Prof">
            <a:hlinkClick r:id="" action="ppaction://media"/>
            <a:extLst>
              <a:ext uri="{FF2B5EF4-FFF2-40B4-BE49-F238E27FC236}">
                <a16:creationId xmlns:a16="http://schemas.microsoft.com/office/drawing/2014/main" id="{6EDB03A1-796F-BAFB-5F5A-1CBB1852E071}"/>
              </a:ext>
            </a:extLst>
          </p:cNvPr>
          <p:cNvPicPr>
            <a:picLocks noGrp="1" noChangeAspect="1"/>
          </p:cNvPicPr>
          <p:nvPr>
            <p:ph idx="1"/>
            <a:videoFile r:link="rId1"/>
            <p:extLst>
              <p:ext uri="{DAA4B4D4-6D71-4841-9C94-3DE7FCFB9230}">
                <p14:media xmlns:p14="http://schemas.microsoft.com/office/powerpoint/2010/main" r:embed="rId2">
                  <p14:trim st="2852"/>
                </p14:media>
              </p:ext>
            </p:extLst>
          </p:nvPr>
        </p:nvPicPr>
        <p:blipFill>
          <a:blip r:embed="rId5"/>
          <a:srcRect l="20472" t="11442" r="28695" b="20273"/>
          <a:stretch>
            <a:fillRect/>
          </a:stretch>
        </p:blipFill>
        <p:spPr>
          <a:xfrm>
            <a:off x="3646026" y="1326104"/>
            <a:ext cx="5160828" cy="5199969"/>
          </a:xfrm>
        </p:spPr>
      </p:pic>
      <p:sp>
        <p:nvSpPr>
          <p:cNvPr id="2" name="Content Placeholder 2">
            <a:extLst>
              <a:ext uri="{FF2B5EF4-FFF2-40B4-BE49-F238E27FC236}">
                <a16:creationId xmlns:a16="http://schemas.microsoft.com/office/drawing/2014/main" id="{377FB438-3540-C53A-91C7-874AB9C3CC63}"/>
              </a:ext>
            </a:extLst>
          </p:cNvPr>
          <p:cNvSpPr txBox="1">
            <a:spLocks/>
          </p:cNvSpPr>
          <p:nvPr/>
        </p:nvSpPr>
        <p:spPr>
          <a:xfrm>
            <a:off x="312517" y="1711297"/>
            <a:ext cx="3264060" cy="4049034"/>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b="0" i="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b="0" i="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spcAft>
                <a:spcPts val="1200"/>
              </a:spcAft>
            </a:pPr>
            <a:r>
              <a:rPr lang="en-US" sz="3400" dirty="0"/>
              <a:t>Simulation showing </a:t>
            </a:r>
            <a:r>
              <a:rPr lang="en-US" sz="3400" b="1" dirty="0">
                <a:solidFill>
                  <a:schemeClr val="tx2"/>
                </a:solidFill>
              </a:rPr>
              <a:t>cellular stretching</a:t>
            </a:r>
          </a:p>
          <a:p>
            <a:pPr>
              <a:spcAft>
                <a:spcPts val="1200"/>
              </a:spcAft>
            </a:pPr>
            <a:r>
              <a:rPr lang="en-US" sz="3400" dirty="0"/>
              <a:t>Requires cell division </a:t>
            </a:r>
            <a:r>
              <a:rPr lang="en-US" sz="3400" b="1" dirty="0">
                <a:solidFill>
                  <a:schemeClr val="tx2"/>
                </a:solidFill>
              </a:rPr>
              <a:t>parallel</a:t>
            </a:r>
            <a:r>
              <a:rPr lang="en-US" sz="3400" dirty="0"/>
              <a:t> to membrane</a:t>
            </a:r>
          </a:p>
          <a:p>
            <a:pPr marL="0" indent="0">
              <a:buNone/>
            </a:pPr>
            <a:endParaRPr lang="en-US" sz="3500" b="1" dirty="0">
              <a:solidFill>
                <a:srgbClr val="FF0000"/>
              </a:solidFill>
            </a:endParaRPr>
          </a:p>
          <a:p>
            <a:endParaRPr lang="en-US" sz="3200" dirty="0"/>
          </a:p>
        </p:txBody>
      </p:sp>
    </p:spTree>
    <p:extLst>
      <p:ext uri="{BB962C8B-B14F-4D97-AF65-F5344CB8AC3E}">
        <p14:creationId xmlns:p14="http://schemas.microsoft.com/office/powerpoint/2010/main" val="2318353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4348"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163F9-E0A0-E3DD-1AB0-F029DB110A90}"/>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6708EBF1-A680-6017-250C-4A92440A8513}"/>
              </a:ext>
            </a:extLst>
          </p:cNvPr>
          <p:cNvSpPr>
            <a:spLocks noGrp="1"/>
          </p:cNvSpPr>
          <p:nvPr>
            <p:ph type="title"/>
          </p:nvPr>
        </p:nvSpPr>
        <p:spPr>
          <a:xfrm>
            <a:off x="457200" y="331927"/>
            <a:ext cx="7886700" cy="994172"/>
          </a:xfrm>
        </p:spPr>
        <p:txBody>
          <a:bodyPr>
            <a:noAutofit/>
          </a:bodyPr>
          <a:lstStyle/>
          <a:p>
            <a:r>
              <a:rPr lang="en-US" sz="3200" b="1" dirty="0">
                <a:solidFill>
                  <a:srgbClr val="171C8C"/>
                </a:solidFill>
                <a:latin typeface="Arial" panose="020B0604020202020204" pitchFamily="34" charset="0"/>
                <a:cs typeface="Arial" panose="020B0604020202020204" pitchFamily="34" charset="0"/>
              </a:rPr>
              <a:t>Parallel Cell Division: Crowding </a:t>
            </a:r>
          </a:p>
        </p:txBody>
      </p:sp>
      <p:cxnSp>
        <p:nvCxnSpPr>
          <p:cNvPr id="5" name="Straight Connector 4">
            <a:extLst>
              <a:ext uri="{FF2B5EF4-FFF2-40B4-BE49-F238E27FC236}">
                <a16:creationId xmlns:a16="http://schemas.microsoft.com/office/drawing/2014/main" id="{15DA2468-0034-F003-65D7-A67D47B4E1AC}"/>
              </a:ext>
            </a:extLst>
          </p:cNvPr>
          <p:cNvCxnSpPr/>
          <p:nvPr/>
        </p:nvCxnSpPr>
        <p:spPr>
          <a:xfrm>
            <a:off x="191528" y="1224990"/>
            <a:ext cx="8760941" cy="0"/>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4" name="Crowding_Prof">
            <a:hlinkClick r:id="" action="ppaction://media"/>
            <a:extLst>
              <a:ext uri="{FF2B5EF4-FFF2-40B4-BE49-F238E27FC236}">
                <a16:creationId xmlns:a16="http://schemas.microsoft.com/office/drawing/2014/main" id="{74CC3B33-E181-68F1-BFF5-610CD023DE29}"/>
              </a:ext>
            </a:extLst>
          </p:cNvPr>
          <p:cNvPicPr>
            <a:picLocks noGrp="1" noChangeAspect="1"/>
          </p:cNvPicPr>
          <p:nvPr>
            <p:ph idx="1"/>
            <a:videoFile r:link="rId1"/>
            <p:extLst>
              <p:ext uri="{DAA4B4D4-6D71-4841-9C94-3DE7FCFB9230}">
                <p14:media xmlns:p14="http://schemas.microsoft.com/office/powerpoint/2010/main" r:embed="rId2">
                  <p14:trim st="22632"/>
                </p14:media>
              </p:ext>
            </p:extLst>
          </p:nvPr>
        </p:nvPicPr>
        <p:blipFill>
          <a:blip r:embed="rId5"/>
          <a:srcRect l="17837" t="23872" r="26944" b="32677"/>
          <a:stretch>
            <a:fillRect/>
          </a:stretch>
        </p:blipFill>
        <p:spPr>
          <a:xfrm>
            <a:off x="748428" y="1326099"/>
            <a:ext cx="7647140" cy="4513537"/>
          </a:xfrm>
        </p:spPr>
      </p:pic>
    </p:spTree>
    <p:extLst>
      <p:ext uri="{BB962C8B-B14F-4D97-AF65-F5344CB8AC3E}">
        <p14:creationId xmlns:p14="http://schemas.microsoft.com/office/powerpoint/2010/main" val="2503221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3368"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E2C98C-38D4-8DEF-6CD5-FFCE053A74E1}"/>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2763478B-02E5-AD8B-52A2-9DAE17DD4F7C}"/>
              </a:ext>
            </a:extLst>
          </p:cNvPr>
          <p:cNvSpPr>
            <a:spLocks noGrp="1"/>
          </p:cNvSpPr>
          <p:nvPr>
            <p:ph type="title"/>
          </p:nvPr>
        </p:nvSpPr>
        <p:spPr>
          <a:xfrm>
            <a:off x="457200" y="331927"/>
            <a:ext cx="7886700" cy="994172"/>
          </a:xfrm>
        </p:spPr>
        <p:txBody>
          <a:bodyPr>
            <a:noAutofit/>
          </a:bodyPr>
          <a:lstStyle/>
          <a:p>
            <a:r>
              <a:rPr lang="en-US" sz="3200" b="1" dirty="0">
                <a:solidFill>
                  <a:srgbClr val="171C8C"/>
                </a:solidFill>
                <a:latin typeface="Arial" panose="020B0604020202020204" pitchFamily="34" charset="0"/>
                <a:cs typeface="Arial" panose="020B0604020202020204" pitchFamily="34" charset="0"/>
              </a:rPr>
              <a:t>Malignant Cell Simulation</a:t>
            </a:r>
          </a:p>
        </p:txBody>
      </p:sp>
      <p:cxnSp>
        <p:nvCxnSpPr>
          <p:cNvPr id="5" name="Straight Connector 4">
            <a:extLst>
              <a:ext uri="{FF2B5EF4-FFF2-40B4-BE49-F238E27FC236}">
                <a16:creationId xmlns:a16="http://schemas.microsoft.com/office/drawing/2014/main" id="{5A0454E3-FAD6-0C2C-318C-900AE0954B41}"/>
              </a:ext>
            </a:extLst>
          </p:cNvPr>
          <p:cNvCxnSpPr/>
          <p:nvPr/>
        </p:nvCxnSpPr>
        <p:spPr>
          <a:xfrm>
            <a:off x="191528" y="1224990"/>
            <a:ext cx="8760941" cy="0"/>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4" name="Dy_duct">
            <a:hlinkClick r:id="" action="ppaction://media"/>
            <a:extLst>
              <a:ext uri="{FF2B5EF4-FFF2-40B4-BE49-F238E27FC236}">
                <a16:creationId xmlns:a16="http://schemas.microsoft.com/office/drawing/2014/main" id="{BB4619C8-4698-E479-98E8-2446D1FB9201}"/>
              </a:ext>
            </a:extLst>
          </p:cNvPr>
          <p:cNvPicPr>
            <a:picLocks noGrp="1" noChangeAspect="1"/>
          </p:cNvPicPr>
          <p:nvPr>
            <p:ph idx="1"/>
            <a:videoFile r:link="rId1"/>
            <p:extLst>
              <p:ext uri="{DAA4B4D4-6D71-4841-9C94-3DE7FCFB9230}">
                <p14:media xmlns:p14="http://schemas.microsoft.com/office/powerpoint/2010/main" r:embed="rId2">
                  <p14:trim end="8880"/>
                </p14:media>
              </p:ext>
            </p:extLst>
          </p:nvPr>
        </p:nvPicPr>
        <p:blipFill>
          <a:blip r:embed="rId5"/>
          <a:srcRect l="23734" t="15536" r="30996" b="24109"/>
          <a:stretch>
            <a:fillRect/>
          </a:stretch>
        </p:blipFill>
        <p:spPr>
          <a:xfrm>
            <a:off x="3695179" y="1326099"/>
            <a:ext cx="5137715" cy="5137713"/>
          </a:xfrm>
        </p:spPr>
      </p:pic>
      <p:sp>
        <p:nvSpPr>
          <p:cNvPr id="2" name="Content Placeholder 2">
            <a:extLst>
              <a:ext uri="{FF2B5EF4-FFF2-40B4-BE49-F238E27FC236}">
                <a16:creationId xmlns:a16="http://schemas.microsoft.com/office/drawing/2014/main" id="{D27DDA64-AB6E-8EEA-C853-2FA34AECC6EC}"/>
              </a:ext>
            </a:extLst>
          </p:cNvPr>
          <p:cNvSpPr txBox="1">
            <a:spLocks/>
          </p:cNvSpPr>
          <p:nvPr/>
        </p:nvSpPr>
        <p:spPr>
          <a:xfrm>
            <a:off x="385454" y="1695478"/>
            <a:ext cx="3344450" cy="4049034"/>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b="0" i="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b="0" i="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spcAft>
                <a:spcPts val="1200"/>
              </a:spcAft>
            </a:pPr>
            <a:r>
              <a:rPr lang="en-US" sz="3600" b="1" dirty="0">
                <a:solidFill>
                  <a:schemeClr val="tx2"/>
                </a:solidFill>
              </a:rPr>
              <a:t>All</a:t>
            </a:r>
            <a:r>
              <a:rPr lang="en-US" sz="3600" b="1" dirty="0"/>
              <a:t> </a:t>
            </a:r>
            <a:r>
              <a:rPr lang="en-US" sz="3600" dirty="0"/>
              <a:t>forces enabled</a:t>
            </a:r>
          </a:p>
          <a:p>
            <a:pPr>
              <a:spcAft>
                <a:spcPts val="600"/>
              </a:spcAft>
            </a:pPr>
            <a:r>
              <a:rPr lang="en-US" sz="3600" b="1" dirty="0">
                <a:solidFill>
                  <a:schemeClr val="tx2"/>
                </a:solidFill>
              </a:rPr>
              <a:t>Parallel cell division </a:t>
            </a:r>
            <a:r>
              <a:rPr lang="en-US" sz="3600" dirty="0"/>
              <a:t>enabled </a:t>
            </a:r>
          </a:p>
          <a:p>
            <a:pPr marL="0" indent="0">
              <a:spcAft>
                <a:spcPts val="600"/>
              </a:spcAft>
              <a:buNone/>
            </a:pPr>
            <a:endParaRPr lang="en-US" sz="3600" b="1" dirty="0"/>
          </a:p>
          <a:p>
            <a:pPr marL="0" indent="0">
              <a:buNone/>
            </a:pPr>
            <a:endParaRPr lang="en-US" sz="3500" b="1" dirty="0">
              <a:solidFill>
                <a:srgbClr val="FF0000"/>
              </a:solidFill>
            </a:endParaRPr>
          </a:p>
          <a:p>
            <a:endParaRPr lang="en-US" sz="3200" dirty="0"/>
          </a:p>
        </p:txBody>
      </p:sp>
    </p:spTree>
    <p:extLst>
      <p:ext uri="{BB962C8B-B14F-4D97-AF65-F5344CB8AC3E}">
        <p14:creationId xmlns:p14="http://schemas.microsoft.com/office/powerpoint/2010/main" val="3098699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342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E2C98C-38D4-8DEF-6CD5-FFCE053A74E1}"/>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2763478B-02E5-AD8B-52A2-9DAE17DD4F7C}"/>
              </a:ext>
            </a:extLst>
          </p:cNvPr>
          <p:cNvSpPr>
            <a:spLocks noGrp="1"/>
          </p:cNvSpPr>
          <p:nvPr>
            <p:ph type="title"/>
          </p:nvPr>
        </p:nvSpPr>
        <p:spPr>
          <a:xfrm>
            <a:off x="457200" y="331927"/>
            <a:ext cx="7886700" cy="994172"/>
          </a:xfrm>
        </p:spPr>
        <p:txBody>
          <a:bodyPr>
            <a:noAutofit/>
          </a:bodyPr>
          <a:lstStyle/>
          <a:p>
            <a:r>
              <a:rPr lang="en-US" sz="3200" b="1" dirty="0">
                <a:solidFill>
                  <a:srgbClr val="171C8C"/>
                </a:solidFill>
                <a:latin typeface="Arial" panose="020B0604020202020204" pitchFamily="34" charset="0"/>
                <a:cs typeface="Arial" panose="020B0604020202020204" pitchFamily="34" charset="0"/>
              </a:rPr>
              <a:t>Malignant Cell Simulation</a:t>
            </a:r>
          </a:p>
        </p:txBody>
      </p:sp>
      <p:cxnSp>
        <p:nvCxnSpPr>
          <p:cNvPr id="5" name="Straight Connector 4">
            <a:extLst>
              <a:ext uri="{FF2B5EF4-FFF2-40B4-BE49-F238E27FC236}">
                <a16:creationId xmlns:a16="http://schemas.microsoft.com/office/drawing/2014/main" id="{5A0454E3-FAD6-0C2C-318C-900AE0954B41}"/>
              </a:ext>
            </a:extLst>
          </p:cNvPr>
          <p:cNvCxnSpPr/>
          <p:nvPr/>
        </p:nvCxnSpPr>
        <p:spPr>
          <a:xfrm>
            <a:off x="191528" y="1224990"/>
            <a:ext cx="8760941" cy="0"/>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4" name="Dy_duct">
            <a:hlinkClick r:id="" action="ppaction://media"/>
            <a:extLst>
              <a:ext uri="{FF2B5EF4-FFF2-40B4-BE49-F238E27FC236}">
                <a16:creationId xmlns:a16="http://schemas.microsoft.com/office/drawing/2014/main" id="{BB4619C8-4698-E479-98E8-2446D1FB9201}"/>
              </a:ext>
            </a:extLst>
          </p:cNvPr>
          <p:cNvPicPr>
            <a:picLocks noGrp="1" noChangeAspect="1"/>
          </p:cNvPicPr>
          <p:nvPr>
            <p:ph idx="1"/>
            <a:videoFile r:link="rId1"/>
            <p:extLst>
              <p:ext uri="{DAA4B4D4-6D71-4841-9C94-3DE7FCFB9230}">
                <p14:media xmlns:p14="http://schemas.microsoft.com/office/powerpoint/2010/main" r:embed="rId2">
                  <p14:trim st="42303"/>
                </p14:media>
              </p:ext>
            </p:extLst>
          </p:nvPr>
        </p:nvPicPr>
        <p:blipFill>
          <a:blip r:embed="rId5"/>
          <a:srcRect l="23734" t="15536" r="30996" b="24109"/>
          <a:stretch>
            <a:fillRect/>
          </a:stretch>
        </p:blipFill>
        <p:spPr>
          <a:xfrm>
            <a:off x="4692024" y="1837157"/>
            <a:ext cx="4144285" cy="4144283"/>
          </a:xfrm>
        </p:spPr>
      </p:pic>
      <p:pic>
        <p:nvPicPr>
          <p:cNvPr id="2" name="Content Placeholder 5">
            <a:extLst>
              <a:ext uri="{FF2B5EF4-FFF2-40B4-BE49-F238E27FC236}">
                <a16:creationId xmlns:a16="http://schemas.microsoft.com/office/drawing/2014/main" id="{364E2C38-EFD4-196B-7E97-CAB301B333E3}"/>
              </a:ext>
            </a:extLst>
          </p:cNvPr>
          <p:cNvPicPr>
            <a:picLocks noChangeAspect="1"/>
          </p:cNvPicPr>
          <p:nvPr/>
        </p:nvPicPr>
        <p:blipFill>
          <a:blip r:embed="rId6"/>
          <a:stretch>
            <a:fillRect/>
          </a:stretch>
        </p:blipFill>
        <p:spPr>
          <a:xfrm>
            <a:off x="409392" y="2332198"/>
            <a:ext cx="4100460" cy="3154200"/>
          </a:xfrm>
          <a:prstGeom prst="rect">
            <a:avLst/>
          </a:prstGeom>
        </p:spPr>
      </p:pic>
    </p:spTree>
    <p:extLst>
      <p:ext uri="{BB962C8B-B14F-4D97-AF65-F5344CB8AC3E}">
        <p14:creationId xmlns:p14="http://schemas.microsoft.com/office/powerpoint/2010/main" val="3281076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9997"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D1A48A-8F25-B2AB-40D5-620262D66B20}"/>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1C95EC67-C641-5091-7EC0-DA15C688D1F3}"/>
              </a:ext>
            </a:extLst>
          </p:cNvPr>
          <p:cNvSpPr>
            <a:spLocks noGrp="1"/>
          </p:cNvSpPr>
          <p:nvPr>
            <p:ph type="title"/>
          </p:nvPr>
        </p:nvSpPr>
        <p:spPr>
          <a:xfrm>
            <a:off x="442982" y="347656"/>
            <a:ext cx="7886700" cy="994172"/>
          </a:xfrm>
        </p:spPr>
        <p:txBody>
          <a:bodyPr>
            <a:noAutofit/>
          </a:bodyPr>
          <a:lstStyle/>
          <a:p>
            <a:r>
              <a:rPr lang="en-US" sz="3200" b="1" dirty="0">
                <a:solidFill>
                  <a:srgbClr val="171C8C"/>
                </a:solidFill>
                <a:latin typeface="Arial" panose="020B0604020202020204" pitchFamily="34" charset="0"/>
                <a:cs typeface="Arial" panose="020B0604020202020204" pitchFamily="34" charset="0"/>
              </a:rPr>
              <a:t>Full Test 1:</a:t>
            </a:r>
          </a:p>
        </p:txBody>
      </p:sp>
      <p:cxnSp>
        <p:nvCxnSpPr>
          <p:cNvPr id="5" name="Straight Connector 4">
            <a:extLst>
              <a:ext uri="{FF2B5EF4-FFF2-40B4-BE49-F238E27FC236}">
                <a16:creationId xmlns:a16="http://schemas.microsoft.com/office/drawing/2014/main" id="{6161F00D-CD6D-1275-3333-ED17AE5260BC}"/>
              </a:ext>
            </a:extLst>
          </p:cNvPr>
          <p:cNvCxnSpPr/>
          <p:nvPr/>
        </p:nvCxnSpPr>
        <p:spPr>
          <a:xfrm>
            <a:off x="191528" y="1224990"/>
            <a:ext cx="8760941"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6" name="Title 9">
            <a:extLst>
              <a:ext uri="{FF2B5EF4-FFF2-40B4-BE49-F238E27FC236}">
                <a16:creationId xmlns:a16="http://schemas.microsoft.com/office/drawing/2014/main" id="{647D2627-664E-87E2-3D1D-352C00851810}"/>
              </a:ext>
            </a:extLst>
          </p:cNvPr>
          <p:cNvSpPr txBox="1">
            <a:spLocks/>
          </p:cNvSpPr>
          <p:nvPr/>
        </p:nvSpPr>
        <p:spPr>
          <a:xfrm>
            <a:off x="1442080" y="1214542"/>
            <a:ext cx="3129918" cy="994172"/>
          </a:xfrm>
          <a:prstGeom prst="rect">
            <a:avLst/>
          </a:prstGeom>
        </p:spPr>
        <p:txBody>
          <a:bodyPr vert="horz" lIns="91440" tIns="45720" rIns="91440" bIns="45720" rtlCol="0" anchor="ctr">
            <a:noAutofit/>
          </a:bodyPr>
          <a:lstStyle>
            <a:lvl1pPr algn="l" defTabSz="685800" rtl="0" eaLnBrk="1" latinLnBrk="0" hangingPunct="1">
              <a:lnSpc>
                <a:spcPct val="90000"/>
              </a:lnSpc>
              <a:spcBef>
                <a:spcPct val="0"/>
              </a:spcBef>
              <a:buNone/>
              <a:defRPr sz="3300" b="0" i="0" kern="1200">
                <a:solidFill>
                  <a:schemeClr val="tx1"/>
                </a:solidFill>
                <a:latin typeface="+mn-lt"/>
                <a:ea typeface="+mj-ea"/>
                <a:cs typeface="+mj-cs"/>
              </a:defRPr>
            </a:lvl1pPr>
          </a:lstStyle>
          <a:p>
            <a:r>
              <a:rPr lang="en-US" sz="3200" b="1" dirty="0">
                <a:solidFill>
                  <a:srgbClr val="171C8C"/>
                </a:solidFill>
                <a:latin typeface="Arial" panose="020B0604020202020204" pitchFamily="34" charset="0"/>
                <a:cs typeface="Arial" panose="020B0604020202020204" pitchFamily="34" charset="0"/>
              </a:rPr>
              <a:t>Baseline </a:t>
            </a:r>
          </a:p>
        </p:txBody>
      </p:sp>
      <p:sp>
        <p:nvSpPr>
          <p:cNvPr id="7" name="Title 9">
            <a:extLst>
              <a:ext uri="{FF2B5EF4-FFF2-40B4-BE49-F238E27FC236}">
                <a16:creationId xmlns:a16="http://schemas.microsoft.com/office/drawing/2014/main" id="{492E6B39-45AE-1DB6-BF2E-624AD39BC61C}"/>
              </a:ext>
            </a:extLst>
          </p:cNvPr>
          <p:cNvSpPr txBox="1">
            <a:spLocks/>
          </p:cNvSpPr>
          <p:nvPr/>
        </p:nvSpPr>
        <p:spPr>
          <a:xfrm>
            <a:off x="5320513" y="1214541"/>
            <a:ext cx="7886700" cy="994172"/>
          </a:xfrm>
          <a:prstGeom prst="rect">
            <a:avLst/>
          </a:prstGeom>
        </p:spPr>
        <p:txBody>
          <a:bodyPr vert="horz" lIns="91440" tIns="45720" rIns="91440" bIns="45720" rtlCol="0" anchor="ctr">
            <a:noAutofit/>
          </a:bodyPr>
          <a:lstStyle>
            <a:lvl1pPr algn="l" defTabSz="685800" rtl="0" eaLnBrk="1" latinLnBrk="0" hangingPunct="1">
              <a:lnSpc>
                <a:spcPct val="90000"/>
              </a:lnSpc>
              <a:spcBef>
                <a:spcPct val="0"/>
              </a:spcBef>
              <a:buNone/>
              <a:defRPr sz="3300" b="0" i="0" kern="1200">
                <a:solidFill>
                  <a:schemeClr val="tx1"/>
                </a:solidFill>
                <a:latin typeface="+mn-lt"/>
                <a:ea typeface="+mj-ea"/>
                <a:cs typeface="+mj-cs"/>
              </a:defRPr>
            </a:lvl1pPr>
          </a:lstStyle>
          <a:p>
            <a:r>
              <a:rPr lang="en-US" sz="3200" b="1" dirty="0">
                <a:solidFill>
                  <a:srgbClr val="171C8C"/>
                </a:solidFill>
                <a:latin typeface="Arial" panose="020B0604020202020204" pitchFamily="34" charset="0"/>
                <a:cs typeface="Arial" panose="020B0604020202020204" pitchFamily="34" charset="0"/>
              </a:rPr>
              <a:t>Just Restoring</a:t>
            </a:r>
          </a:p>
        </p:txBody>
      </p:sp>
      <p:pic>
        <p:nvPicPr>
          <p:cNvPr id="3" name="Home(baseline).mp4">
            <a:hlinkClick r:id="" action="ppaction://media"/>
            <a:extLst>
              <a:ext uri="{FF2B5EF4-FFF2-40B4-BE49-F238E27FC236}">
                <a16:creationId xmlns:a16="http://schemas.microsoft.com/office/drawing/2014/main" id="{1DA5476D-92E4-B5E5-935C-E5E551EB2011}"/>
              </a:ext>
            </a:extLst>
          </p:cNvPr>
          <p:cNvPicPr>
            <a:picLocks noChangeAspect="1"/>
          </p:cNvPicPr>
          <p:nvPr>
            <a:videoFile r:link="rId2"/>
            <p:extLst>
              <p:ext uri="{DAA4B4D4-6D71-4841-9C94-3DE7FCFB9230}">
                <p14:media xmlns:p14="http://schemas.microsoft.com/office/powerpoint/2010/main" r:embed="rId1"/>
              </p:ext>
            </p:extLst>
          </p:nvPr>
        </p:nvPicPr>
        <p:blipFill>
          <a:blip r:embed="rId7"/>
          <a:srcRect l="20000" t="11343" r="28060" b="17862"/>
          <a:stretch>
            <a:fillRect/>
          </a:stretch>
        </p:blipFill>
        <p:spPr>
          <a:xfrm>
            <a:off x="191528" y="2102324"/>
            <a:ext cx="4407836" cy="4505903"/>
          </a:xfrm>
          <a:prstGeom prst="rect">
            <a:avLst/>
          </a:prstGeom>
        </p:spPr>
      </p:pic>
      <p:pic>
        <p:nvPicPr>
          <p:cNvPr id="4" name="Home(exp .1).mp4">
            <a:hlinkClick r:id="" action="ppaction://media"/>
            <a:extLst>
              <a:ext uri="{FF2B5EF4-FFF2-40B4-BE49-F238E27FC236}">
                <a16:creationId xmlns:a16="http://schemas.microsoft.com/office/drawing/2014/main" id="{1E99BEEC-936C-393D-5046-473D939C7320}"/>
              </a:ext>
            </a:extLst>
          </p:cNvPr>
          <p:cNvPicPr>
            <a:picLocks noChangeAspect="1"/>
          </p:cNvPicPr>
          <p:nvPr>
            <a:videoFile r:link="rId4"/>
            <p:extLst>
              <p:ext uri="{DAA4B4D4-6D71-4841-9C94-3DE7FCFB9230}">
                <p14:media xmlns:p14="http://schemas.microsoft.com/office/powerpoint/2010/main" r:embed="rId3"/>
              </p:ext>
            </p:extLst>
          </p:nvPr>
        </p:nvPicPr>
        <p:blipFill>
          <a:blip r:embed="rId8"/>
          <a:srcRect l="19851" t="11343" r="27612" b="17862"/>
          <a:stretch>
            <a:fillRect/>
          </a:stretch>
        </p:blipFill>
        <p:spPr>
          <a:xfrm>
            <a:off x="4571998" y="2181184"/>
            <a:ext cx="4380471" cy="4427044"/>
          </a:xfrm>
          <a:prstGeom prst="rect">
            <a:avLst/>
          </a:prstGeom>
        </p:spPr>
      </p:pic>
    </p:spTree>
    <p:extLst>
      <p:ext uri="{BB962C8B-B14F-4D97-AF65-F5344CB8AC3E}">
        <p14:creationId xmlns:p14="http://schemas.microsoft.com/office/powerpoint/2010/main" val="34617001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1600"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416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3"/>
                </p:tgtEl>
              </p:cMediaNode>
            </p:video>
            <p:seq concurrent="1" nextAc="seek">
              <p:cTn id="12" restart="whenNotActive" fill="hold" evtFilter="cancelBubble" nodeType="interactiveSeq">
                <p:stCondLst>
                  <p:cond evt="onClick" delay="0">
                    <p:tgtEl>
                      <p:spTgt spid="3"/>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3"/>
                                        </p:tgtEl>
                                      </p:cBhvr>
                                    </p:cmd>
                                  </p:childTnLst>
                                </p:cTn>
                              </p:par>
                            </p:childTnLst>
                          </p:cTn>
                        </p:par>
                      </p:childTnLst>
                    </p:cTn>
                  </p:par>
                </p:childTnLst>
              </p:cTn>
              <p:nextCondLst>
                <p:cond evt="onClick" delay="0">
                  <p:tgtEl>
                    <p:spTgt spid="3"/>
                  </p:tgtEl>
                </p:cond>
              </p:nextCondLst>
            </p:seq>
            <p:video>
              <p:cMediaNode vol="80000">
                <p:cTn id="17" fill="hold" display="0">
                  <p:stCondLst>
                    <p:cond delay="indefinite"/>
                  </p:stCondLst>
                </p:cTn>
                <p:tgtEl>
                  <p:spTgt spid="4"/>
                </p:tgtEl>
              </p:cMediaNode>
            </p:video>
            <p:seq concurrent="1" nextAc="seek">
              <p:cTn id="18" restart="whenNotActive" fill="hold" evtFilter="cancelBubble" nodeType="interactiveSeq">
                <p:stCondLst>
                  <p:cond evt="onClick" delay="0">
                    <p:tgtEl>
                      <p:spTgt spid="4"/>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50CB13-24B7-3E64-EA3C-70E3B4CC3D5E}"/>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587F437C-1FBC-8E86-466C-581AD0A1355F}"/>
              </a:ext>
            </a:extLst>
          </p:cNvPr>
          <p:cNvSpPr>
            <a:spLocks noGrp="1"/>
          </p:cNvSpPr>
          <p:nvPr>
            <p:ph type="title"/>
          </p:nvPr>
        </p:nvSpPr>
        <p:spPr>
          <a:xfrm>
            <a:off x="457200" y="329672"/>
            <a:ext cx="7886700" cy="994172"/>
          </a:xfrm>
        </p:spPr>
        <p:txBody>
          <a:bodyPr>
            <a:noAutofit/>
          </a:bodyPr>
          <a:lstStyle/>
          <a:p>
            <a:r>
              <a:rPr lang="en-US" sz="3200" b="1" dirty="0">
                <a:solidFill>
                  <a:srgbClr val="171C8C"/>
                </a:solidFill>
                <a:latin typeface="Arial" panose="020B0604020202020204" pitchFamily="34" charset="0"/>
                <a:cs typeface="Arial" panose="020B0604020202020204" pitchFamily="34" charset="0"/>
              </a:rPr>
              <a:t>Future Work: Discussion</a:t>
            </a:r>
          </a:p>
        </p:txBody>
      </p:sp>
      <p:cxnSp>
        <p:nvCxnSpPr>
          <p:cNvPr id="5" name="Straight Connector 4">
            <a:extLst>
              <a:ext uri="{FF2B5EF4-FFF2-40B4-BE49-F238E27FC236}">
                <a16:creationId xmlns:a16="http://schemas.microsoft.com/office/drawing/2014/main" id="{E18B686F-6B8E-7CD1-14AF-05B33AE5A1F1}"/>
              </a:ext>
            </a:extLst>
          </p:cNvPr>
          <p:cNvCxnSpPr/>
          <p:nvPr/>
        </p:nvCxnSpPr>
        <p:spPr>
          <a:xfrm>
            <a:off x="191528" y="1224990"/>
            <a:ext cx="8760941"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C9D869BC-7F13-ADD7-2688-83DE0764E9BE}"/>
              </a:ext>
            </a:extLst>
          </p:cNvPr>
          <p:cNvSpPr>
            <a:spLocks noGrp="1"/>
          </p:cNvSpPr>
          <p:nvPr>
            <p:ph idx="1"/>
          </p:nvPr>
        </p:nvSpPr>
        <p:spPr/>
        <p:txBody>
          <a:bodyPr>
            <a:normAutofit/>
          </a:bodyPr>
          <a:lstStyle/>
          <a:p>
            <a:pPr>
              <a:spcAft>
                <a:spcPts val="1200"/>
              </a:spcAft>
            </a:pPr>
            <a:r>
              <a:rPr lang="en-US" sz="3600" dirty="0"/>
              <a:t> Refine fibroblast interactions</a:t>
            </a:r>
          </a:p>
          <a:p>
            <a:pPr lvl="1">
              <a:spcAft>
                <a:spcPts val="1200"/>
              </a:spcAft>
            </a:pPr>
            <a:r>
              <a:rPr lang="en-US" sz="3300" dirty="0"/>
              <a:t>Fibroblasts, Macrophages, </a:t>
            </a:r>
            <a:r>
              <a:rPr lang="en-US" sz="3300" dirty="0" err="1"/>
              <a:t>etc</a:t>
            </a:r>
            <a:endParaRPr lang="en-US" sz="3300" dirty="0"/>
          </a:p>
          <a:p>
            <a:pPr lvl="2">
              <a:spcAft>
                <a:spcPts val="1200"/>
              </a:spcAft>
            </a:pPr>
            <a:r>
              <a:rPr lang="en-US" sz="3000" dirty="0"/>
              <a:t>MMP Enzymes </a:t>
            </a:r>
          </a:p>
          <a:p>
            <a:pPr>
              <a:spcAft>
                <a:spcPts val="1200"/>
              </a:spcAft>
            </a:pPr>
            <a:r>
              <a:rPr lang="en-US" sz="3900" dirty="0"/>
              <a:t>Would love suggestions for next steps? </a:t>
            </a:r>
          </a:p>
          <a:p>
            <a:endParaRPr lang="en-US" sz="3300" dirty="0"/>
          </a:p>
          <a:p>
            <a:endParaRPr lang="en-US" sz="3300" dirty="0"/>
          </a:p>
        </p:txBody>
      </p:sp>
    </p:spTree>
    <p:extLst>
      <p:ext uri="{BB962C8B-B14F-4D97-AF65-F5344CB8AC3E}">
        <p14:creationId xmlns:p14="http://schemas.microsoft.com/office/powerpoint/2010/main" val="7186300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2EC039-4939-2DF4-5D4D-D6417EB5E485}"/>
              </a:ext>
            </a:extLst>
          </p:cNvPr>
          <p:cNvSpPr>
            <a:spLocks noGrp="1"/>
          </p:cNvSpPr>
          <p:nvPr>
            <p:ph type="title"/>
          </p:nvPr>
        </p:nvSpPr>
        <p:spPr>
          <a:xfrm>
            <a:off x="457200" y="230060"/>
            <a:ext cx="7886700" cy="1325563"/>
          </a:xfrm>
        </p:spPr>
        <p:txBody>
          <a:bodyPr>
            <a:normAutofit/>
          </a:bodyPr>
          <a:lstStyle/>
          <a:p>
            <a:r>
              <a:rPr lang="en-US" sz="4000" b="1" dirty="0">
                <a:solidFill>
                  <a:srgbClr val="171C8C"/>
                </a:solidFill>
                <a:latin typeface="Arial" panose="020B0604020202020204" pitchFamily="34" charset="0"/>
                <a:cs typeface="Arial" panose="020B0604020202020204" pitchFamily="34" charset="0"/>
              </a:rPr>
              <a:t>Acknowledgements</a:t>
            </a:r>
            <a:endParaRPr lang="en-US" sz="4000" dirty="0">
              <a:solidFill>
                <a:schemeClr val="tx2"/>
              </a:solidFill>
            </a:endParaRPr>
          </a:p>
        </p:txBody>
      </p:sp>
      <p:sp>
        <p:nvSpPr>
          <p:cNvPr id="3" name="Content Placeholder 2">
            <a:extLst>
              <a:ext uri="{FF2B5EF4-FFF2-40B4-BE49-F238E27FC236}">
                <a16:creationId xmlns:a16="http://schemas.microsoft.com/office/drawing/2014/main" id="{1BF3058F-9D08-C31A-A340-994D6A7F9AEF}"/>
              </a:ext>
            </a:extLst>
          </p:cNvPr>
          <p:cNvSpPr>
            <a:spLocks noGrp="1"/>
          </p:cNvSpPr>
          <p:nvPr>
            <p:ph idx="1"/>
          </p:nvPr>
        </p:nvSpPr>
        <p:spPr/>
        <p:txBody>
          <a:bodyPr>
            <a:normAutofit/>
          </a:bodyPr>
          <a:lstStyle/>
          <a:p>
            <a:pPr marL="0" indent="0">
              <a:spcAft>
                <a:spcPts val="1200"/>
              </a:spcAft>
              <a:buNone/>
            </a:pPr>
            <a:r>
              <a:rPr lang="en-US" sz="3200" dirty="0"/>
              <a:t>Thank you everyone for the support!</a:t>
            </a:r>
          </a:p>
          <a:p>
            <a:pPr lvl="1"/>
            <a:r>
              <a:rPr lang="en-US" sz="3200" dirty="0"/>
              <a:t>Bergman Lab</a:t>
            </a:r>
          </a:p>
          <a:p>
            <a:pPr lvl="1"/>
            <a:r>
              <a:rPr lang="en-US" sz="3200" dirty="0"/>
              <a:t>Fertig Lab</a:t>
            </a:r>
          </a:p>
          <a:p>
            <a:pPr lvl="1"/>
            <a:r>
              <a:rPr lang="en-US" sz="3200" dirty="0"/>
              <a:t>Macklin Lab</a:t>
            </a:r>
          </a:p>
          <a:p>
            <a:pPr lvl="1"/>
            <a:endParaRPr lang="en-US" sz="2500" dirty="0">
              <a:solidFill>
                <a:schemeClr val="tx2"/>
              </a:solidFill>
            </a:endParaRPr>
          </a:p>
        </p:txBody>
      </p:sp>
      <p:cxnSp>
        <p:nvCxnSpPr>
          <p:cNvPr id="14" name="Straight Connector 13">
            <a:extLst>
              <a:ext uri="{FF2B5EF4-FFF2-40B4-BE49-F238E27FC236}">
                <a16:creationId xmlns:a16="http://schemas.microsoft.com/office/drawing/2014/main" id="{1D11857F-AFDE-4A92-6ECF-7B1153D45E58}"/>
              </a:ext>
            </a:extLst>
          </p:cNvPr>
          <p:cNvCxnSpPr/>
          <p:nvPr/>
        </p:nvCxnSpPr>
        <p:spPr>
          <a:xfrm>
            <a:off x="191528" y="1224990"/>
            <a:ext cx="8760941" cy="0"/>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70609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4996FAC-4FA7-8633-FAA0-F5BE38DA289B}"/>
              </a:ext>
            </a:extLst>
          </p:cNvPr>
          <p:cNvSpPr>
            <a:spLocks noGrp="1"/>
          </p:cNvSpPr>
          <p:nvPr>
            <p:ph idx="1"/>
          </p:nvPr>
        </p:nvSpPr>
        <p:spPr>
          <a:xfrm>
            <a:off x="961372" y="1592371"/>
            <a:ext cx="7221255" cy="3673258"/>
          </a:xfrm>
        </p:spPr>
        <p:txBody>
          <a:bodyPr>
            <a:normAutofit/>
          </a:bodyPr>
          <a:lstStyle/>
          <a:p>
            <a:pPr marL="0" indent="0" algn="ctr">
              <a:buNone/>
            </a:pPr>
            <a:r>
              <a:rPr lang="en-US" sz="8000" b="1" dirty="0">
                <a:solidFill>
                  <a:schemeClr val="tx2"/>
                </a:solidFill>
              </a:rPr>
              <a:t>Thank you!</a:t>
            </a:r>
          </a:p>
          <a:p>
            <a:pPr marL="0" indent="0" algn="ctr">
              <a:buNone/>
            </a:pPr>
            <a:r>
              <a:rPr lang="en-US" sz="8000" b="1" dirty="0">
                <a:solidFill>
                  <a:schemeClr val="tx2"/>
                </a:solidFill>
              </a:rPr>
              <a:t>Any Questions?</a:t>
            </a:r>
          </a:p>
        </p:txBody>
      </p:sp>
    </p:spTree>
    <p:extLst>
      <p:ext uri="{BB962C8B-B14F-4D97-AF65-F5344CB8AC3E}">
        <p14:creationId xmlns:p14="http://schemas.microsoft.com/office/powerpoint/2010/main" val="13588298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1487A-FFFE-C060-7FDD-34D3E433B8FD}"/>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D7E757D7-2538-0610-6B08-436D45D3EF85}"/>
              </a:ext>
            </a:extLst>
          </p:cNvPr>
          <p:cNvSpPr>
            <a:spLocks noGrp="1"/>
          </p:cNvSpPr>
          <p:nvPr>
            <p:ph type="title"/>
          </p:nvPr>
        </p:nvSpPr>
        <p:spPr>
          <a:xfrm>
            <a:off x="457200" y="331927"/>
            <a:ext cx="7886700" cy="994172"/>
          </a:xfrm>
        </p:spPr>
        <p:txBody>
          <a:bodyPr>
            <a:noAutofit/>
          </a:bodyPr>
          <a:lstStyle/>
          <a:p>
            <a:r>
              <a:rPr lang="en-US" sz="3200" b="1" dirty="0">
                <a:solidFill>
                  <a:srgbClr val="171C8C"/>
                </a:solidFill>
                <a:latin typeface="Arial" panose="020B0604020202020204" pitchFamily="34" charset="0"/>
                <a:cs typeface="Arial" panose="020B0604020202020204" pitchFamily="34" charset="0"/>
              </a:rPr>
              <a:t>Citations</a:t>
            </a:r>
          </a:p>
        </p:txBody>
      </p:sp>
      <p:cxnSp>
        <p:nvCxnSpPr>
          <p:cNvPr id="5" name="Straight Connector 4">
            <a:extLst>
              <a:ext uri="{FF2B5EF4-FFF2-40B4-BE49-F238E27FC236}">
                <a16:creationId xmlns:a16="http://schemas.microsoft.com/office/drawing/2014/main" id="{277FBDE3-D045-EB92-C9A3-1DAB82684AE3}"/>
              </a:ext>
            </a:extLst>
          </p:cNvPr>
          <p:cNvCxnSpPr/>
          <p:nvPr/>
        </p:nvCxnSpPr>
        <p:spPr>
          <a:xfrm>
            <a:off x="191528" y="1224990"/>
            <a:ext cx="8760941"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EB55C810-A69C-9760-96C0-D69C65607F6F}"/>
              </a:ext>
            </a:extLst>
          </p:cNvPr>
          <p:cNvSpPr txBox="1"/>
          <p:nvPr/>
        </p:nvSpPr>
        <p:spPr>
          <a:xfrm>
            <a:off x="457199" y="1480498"/>
            <a:ext cx="8495269" cy="6001643"/>
          </a:xfrm>
          <a:prstGeom prst="rect">
            <a:avLst/>
          </a:prstGeom>
          <a:noFill/>
        </p:spPr>
        <p:txBody>
          <a:bodyPr wrap="square">
            <a:spAutoFit/>
          </a:bodyPr>
          <a:lstStyle/>
          <a:p>
            <a:r>
              <a:rPr lang="en-US" sz="1600" b="0" i="0" dirty="0">
                <a:solidFill>
                  <a:srgbClr val="1B1B1B"/>
                </a:solidFill>
                <a:effectLst/>
                <a:latin typeface="Roboto Mono Web"/>
              </a:rPr>
              <a:t>[1] </a:t>
            </a:r>
            <a:r>
              <a:rPr lang="en-US" sz="1600" b="0" i="0" dirty="0" err="1">
                <a:solidFill>
                  <a:srgbClr val="1B1B1B"/>
                </a:solidFill>
                <a:effectLst/>
                <a:latin typeface="Roboto Mono Web"/>
              </a:rPr>
              <a:t>Yurchenco</a:t>
            </a:r>
            <a:r>
              <a:rPr lang="en-US" sz="1600" b="0" i="0" dirty="0">
                <a:solidFill>
                  <a:srgbClr val="1B1B1B"/>
                </a:solidFill>
                <a:effectLst/>
                <a:latin typeface="Roboto Mono Web"/>
              </a:rPr>
              <a:t> PD, Patton BL. Developmental and pathogenic mechanisms of basement membrane assembly. Curr Pharm Des. 2009;15(12):1277-94. </a:t>
            </a:r>
            <a:r>
              <a:rPr lang="en-US" sz="1600" b="0" i="0" dirty="0" err="1">
                <a:solidFill>
                  <a:srgbClr val="1B1B1B"/>
                </a:solidFill>
                <a:effectLst/>
                <a:latin typeface="Roboto Mono Web"/>
              </a:rPr>
              <a:t>doi</a:t>
            </a:r>
            <a:r>
              <a:rPr lang="en-US" sz="1600" b="0" i="0" dirty="0">
                <a:solidFill>
                  <a:srgbClr val="1B1B1B"/>
                </a:solidFill>
                <a:effectLst/>
                <a:latin typeface="Roboto Mono Web"/>
              </a:rPr>
              <a:t>: 10.2174/138161209787846766. PMID: 19355968; PMCID: PMC2978668.</a:t>
            </a:r>
          </a:p>
          <a:p>
            <a:endParaRPr lang="en-US" sz="1600" dirty="0">
              <a:solidFill>
                <a:srgbClr val="1B1B1B"/>
              </a:solidFill>
              <a:latin typeface="Roboto Mono Web"/>
            </a:endParaRPr>
          </a:p>
          <a:p>
            <a:r>
              <a:rPr lang="en-US" sz="1600" dirty="0"/>
              <a:t>[2] Guerra </a:t>
            </a:r>
            <a:r>
              <a:rPr lang="en-US" sz="1600" dirty="0" err="1"/>
              <a:t>Santillán</a:t>
            </a:r>
            <a:r>
              <a:rPr lang="en-US" sz="1600" dirty="0"/>
              <a:t> KY, </a:t>
            </a:r>
            <a:r>
              <a:rPr lang="en-US" sz="1600" dirty="0" err="1"/>
              <a:t>Dahmann</a:t>
            </a:r>
            <a:r>
              <a:rPr lang="en-US" sz="1600" dirty="0"/>
              <a:t> C, Fischer-Friedrich E. Elastic Contractile Stress in the Basement Membrane Generates Basal Tension in Epithelia. PRX Life. 2024;2(1):013004. doi:10.1103/PRXLife.2.013004</a:t>
            </a:r>
            <a:endParaRPr lang="en-US" sz="1600" b="0" i="0" dirty="0">
              <a:solidFill>
                <a:srgbClr val="1B1B1B"/>
              </a:solidFill>
              <a:effectLst/>
              <a:latin typeface="Roboto Mono Web"/>
            </a:endParaRPr>
          </a:p>
          <a:p>
            <a:endParaRPr lang="en-US" sz="1600" dirty="0">
              <a:solidFill>
                <a:srgbClr val="1B1B1B"/>
              </a:solidFill>
              <a:latin typeface="Roboto Mono Web"/>
            </a:endParaRPr>
          </a:p>
          <a:p>
            <a:r>
              <a:rPr lang="en-US" sz="1600" dirty="0">
                <a:solidFill>
                  <a:srgbClr val="1B1B1B"/>
                </a:solidFill>
                <a:latin typeface="Roboto Mono Web"/>
              </a:rPr>
              <a:t>[3] H. Li, Y. Zheng, Y.L. Han, S. Cai, &amp; M. Guo, Nonlinear elasticity of biological basement membrane revealed by rapid inflation and deflation, Proc. Natl. Acad. Sci. U.S.A. 118 (11) e2022422118, https://doi.org/10.1073/pnas.2022422118 (2021).</a:t>
            </a:r>
          </a:p>
          <a:p>
            <a:endParaRPr lang="en-US" sz="1600" dirty="0">
              <a:solidFill>
                <a:srgbClr val="1B1B1B"/>
              </a:solidFill>
              <a:latin typeface="Roboto Mono Web"/>
            </a:endParaRPr>
          </a:p>
          <a:p>
            <a:r>
              <a:rPr lang="en-US" sz="1600" dirty="0"/>
              <a:t>[4] Schneiderhan W, Korpal M, Hinz J, et al. Pancreatic stellate cells are an important source of MMP-2 in human pancreatic cancer and accelerate tumor cell invasion. </a:t>
            </a:r>
            <a:r>
              <a:rPr lang="en-US" sz="1600" i="1" dirty="0"/>
              <a:t>Gut</a:t>
            </a:r>
            <a:r>
              <a:rPr lang="en-US" sz="1600" dirty="0"/>
              <a:t>. 2007;56(6):823-830. doi:10.1136/gut.2006.104217</a:t>
            </a:r>
            <a:endParaRPr lang="en-US" sz="1600" dirty="0">
              <a:solidFill>
                <a:srgbClr val="1B1B1B"/>
              </a:solidFill>
              <a:latin typeface="Roboto Mono Web"/>
            </a:endParaRPr>
          </a:p>
          <a:p>
            <a:endParaRPr lang="en-US" dirty="0">
              <a:solidFill>
                <a:srgbClr val="1B1B1B"/>
              </a:solidFill>
              <a:latin typeface="Roboto Mono Web"/>
            </a:endParaRPr>
          </a:p>
          <a:p>
            <a:endParaRPr lang="en-US" dirty="0">
              <a:solidFill>
                <a:srgbClr val="1B1B1B"/>
              </a:solidFill>
              <a:latin typeface="Roboto Mono Web"/>
            </a:endParaRPr>
          </a:p>
          <a:p>
            <a:endParaRPr lang="en-US" dirty="0">
              <a:solidFill>
                <a:srgbClr val="1B1B1B"/>
              </a:solidFill>
              <a:latin typeface="Roboto Mono Web"/>
            </a:endParaRPr>
          </a:p>
          <a:p>
            <a:endParaRPr lang="en-US" dirty="0">
              <a:solidFill>
                <a:srgbClr val="1B1B1B"/>
              </a:solidFill>
              <a:latin typeface="Roboto Mono Web"/>
            </a:endParaRPr>
          </a:p>
          <a:p>
            <a:endParaRPr lang="en-US" dirty="0">
              <a:solidFill>
                <a:srgbClr val="1B1B1B"/>
              </a:solidFill>
              <a:latin typeface="Roboto Mono Web"/>
            </a:endParaRPr>
          </a:p>
          <a:p>
            <a:endParaRPr lang="en-US" dirty="0">
              <a:solidFill>
                <a:srgbClr val="1B1B1B"/>
              </a:solidFill>
              <a:latin typeface="Roboto Mono Web"/>
            </a:endParaRPr>
          </a:p>
          <a:p>
            <a:endParaRPr lang="en-US" dirty="0">
              <a:solidFill>
                <a:srgbClr val="1B1B1B"/>
              </a:solidFill>
              <a:latin typeface="Roboto Mono Web"/>
            </a:endParaRPr>
          </a:p>
          <a:p>
            <a:endParaRPr lang="en-US" dirty="0"/>
          </a:p>
        </p:txBody>
      </p:sp>
    </p:spTree>
    <p:extLst>
      <p:ext uri="{BB962C8B-B14F-4D97-AF65-F5344CB8AC3E}">
        <p14:creationId xmlns:p14="http://schemas.microsoft.com/office/powerpoint/2010/main" val="34763204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4BD07-C2A3-30C8-644D-B4CBE0F7BFCA}"/>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74A806F3-B680-C511-6946-932BE9127973}"/>
              </a:ext>
            </a:extLst>
          </p:cNvPr>
          <p:cNvSpPr>
            <a:spLocks noGrp="1"/>
          </p:cNvSpPr>
          <p:nvPr>
            <p:ph type="title"/>
          </p:nvPr>
        </p:nvSpPr>
        <p:spPr>
          <a:xfrm>
            <a:off x="457200" y="331927"/>
            <a:ext cx="7886700" cy="994172"/>
          </a:xfrm>
        </p:spPr>
        <p:txBody>
          <a:bodyPr>
            <a:noAutofit/>
          </a:bodyPr>
          <a:lstStyle/>
          <a:p>
            <a:r>
              <a:rPr lang="en-US" sz="3200" b="1" dirty="0">
                <a:solidFill>
                  <a:srgbClr val="171C8C"/>
                </a:solidFill>
                <a:latin typeface="Arial" panose="020B0604020202020204" pitchFamily="34" charset="0"/>
                <a:cs typeface="Arial" panose="020B0604020202020204" pitchFamily="34" charset="0"/>
              </a:rPr>
              <a:t>Citations</a:t>
            </a:r>
          </a:p>
        </p:txBody>
      </p:sp>
      <p:cxnSp>
        <p:nvCxnSpPr>
          <p:cNvPr id="5" name="Straight Connector 4">
            <a:extLst>
              <a:ext uri="{FF2B5EF4-FFF2-40B4-BE49-F238E27FC236}">
                <a16:creationId xmlns:a16="http://schemas.microsoft.com/office/drawing/2014/main" id="{3993072A-D7F1-25A9-28EB-4310FB8C8405}"/>
              </a:ext>
            </a:extLst>
          </p:cNvPr>
          <p:cNvCxnSpPr/>
          <p:nvPr/>
        </p:nvCxnSpPr>
        <p:spPr>
          <a:xfrm>
            <a:off x="191528" y="1224990"/>
            <a:ext cx="8760941"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95EBFCD7-96FF-4A33-712A-8AC4E7D782A5}"/>
              </a:ext>
            </a:extLst>
          </p:cNvPr>
          <p:cNvSpPr txBox="1"/>
          <p:nvPr/>
        </p:nvSpPr>
        <p:spPr>
          <a:xfrm>
            <a:off x="457199" y="1480498"/>
            <a:ext cx="8495269" cy="6001643"/>
          </a:xfrm>
          <a:prstGeom prst="rect">
            <a:avLst/>
          </a:prstGeom>
          <a:noFill/>
        </p:spPr>
        <p:txBody>
          <a:bodyPr wrap="square">
            <a:spAutoFit/>
          </a:bodyPr>
          <a:lstStyle/>
          <a:p>
            <a:r>
              <a:rPr lang="en-US" sz="1600" dirty="0" err="1"/>
              <a:t>Kiemen</a:t>
            </a:r>
            <a:r>
              <a:rPr lang="en-US" sz="1600" dirty="0"/>
              <a:t> A, Wu PH, Braxton AM, Cornish TC, </a:t>
            </a:r>
            <a:r>
              <a:rPr lang="en-US" sz="1600" dirty="0" err="1"/>
              <a:t>Hruban</a:t>
            </a:r>
            <a:r>
              <a:rPr lang="en-US" sz="1600" dirty="0"/>
              <a:t> RH, Wood LD, et al. Power‑law growth models explain incidences and sizes of pancreatic cancer precursor lesions and confirm spatial genomic findings. Sci Adv. 2024 Jul 26;10(30):eado5103. DOI: </a:t>
            </a:r>
            <a:r>
              <a:rPr lang="en-US" sz="1600" dirty="0">
                <a:hlinkClick r:id="rId3"/>
              </a:rPr>
              <a:t>https://doi.org/10.1126/sciadv.ado5103</a:t>
            </a:r>
            <a:r>
              <a:rPr lang="en-US" sz="1600" dirty="0"/>
              <a:t>.</a:t>
            </a:r>
          </a:p>
          <a:p>
            <a:endParaRPr lang="en-US" sz="1600" dirty="0"/>
          </a:p>
          <a:p>
            <a:r>
              <a:rPr lang="en-US" sz="1600" dirty="0" err="1"/>
              <a:t>Hruban</a:t>
            </a:r>
            <a:r>
              <a:rPr lang="en-US" sz="1600" dirty="0"/>
              <a:t> RH, </a:t>
            </a:r>
            <a:r>
              <a:rPr lang="en-US" sz="1600" dirty="0" err="1"/>
              <a:t>Adsay</a:t>
            </a:r>
            <a:r>
              <a:rPr lang="en-US" sz="1600" dirty="0"/>
              <a:t> NV, Albores-Saavedra J, Compton C, Garrett E, Goodman SN, Kern SE, </a:t>
            </a:r>
            <a:r>
              <a:rPr lang="en-US" sz="1600" dirty="0" err="1"/>
              <a:t>Klimstra</a:t>
            </a:r>
            <a:r>
              <a:rPr lang="en-US" sz="1600" dirty="0"/>
              <a:t> DS, </a:t>
            </a:r>
            <a:r>
              <a:rPr lang="en-US" sz="1600" dirty="0" err="1"/>
              <a:t>Kloppel</a:t>
            </a:r>
            <a:r>
              <a:rPr lang="en-US" sz="1600" dirty="0"/>
              <a:t> G, Longnecker DS, </a:t>
            </a:r>
            <a:r>
              <a:rPr lang="en-US" sz="1600" dirty="0" err="1"/>
              <a:t>Luttges</a:t>
            </a:r>
            <a:r>
              <a:rPr lang="en-US" sz="1600" dirty="0"/>
              <a:t> J, </a:t>
            </a:r>
            <a:r>
              <a:rPr lang="en-US" sz="1600" dirty="0" err="1"/>
              <a:t>Offerhaus</a:t>
            </a:r>
            <a:r>
              <a:rPr lang="en-US" sz="1600" dirty="0"/>
              <a:t> GJA. Pancreatic intraepithelial neoplasia (</a:t>
            </a:r>
            <a:r>
              <a:rPr lang="en-US" sz="1600" dirty="0" err="1"/>
              <a:t>PanIN</a:t>
            </a:r>
            <a:r>
              <a:rPr lang="en-US" sz="1600" dirty="0"/>
              <a:t>): A New nomenclature and classification system for pancreatic duct lesions. Am J Surg </a:t>
            </a:r>
            <a:r>
              <a:rPr lang="en-US" sz="1600" dirty="0" err="1"/>
              <a:t>Pathol</a:t>
            </a:r>
            <a:r>
              <a:rPr lang="en-US" sz="1600" dirty="0"/>
              <a:t>, 2001, volume 25:579-86</a:t>
            </a:r>
          </a:p>
          <a:p>
            <a:endParaRPr lang="en-US" sz="1600" dirty="0"/>
          </a:p>
          <a:p>
            <a:r>
              <a:rPr lang="en-US" sz="1600" i="1" dirty="0"/>
              <a:t>A. </a:t>
            </a:r>
            <a:r>
              <a:rPr lang="en-US" sz="1600" i="1" dirty="0" err="1"/>
              <a:t>Ghaffarizadeh</a:t>
            </a:r>
            <a:r>
              <a:rPr lang="en-US" sz="1600" i="1" dirty="0"/>
              <a:t>, R. Heiland, S.H. Friedman, S.M. </a:t>
            </a:r>
            <a:r>
              <a:rPr lang="en-US" sz="1600" i="1" dirty="0" err="1"/>
              <a:t>Mumenthaler</a:t>
            </a:r>
            <a:r>
              <a:rPr lang="en-US" sz="1600" i="1" dirty="0"/>
              <a:t>, and P. Macklin, </a:t>
            </a:r>
            <a:r>
              <a:rPr lang="en-US" sz="1600" i="1" dirty="0" err="1"/>
              <a:t>PhysiCell</a:t>
            </a:r>
            <a:r>
              <a:rPr lang="en-US" sz="1600" i="1" dirty="0"/>
              <a:t>: an open source physics-based cell simulator for 3-D multicellular systems, </a:t>
            </a:r>
            <a:r>
              <a:rPr lang="en-US" sz="1600" i="1" dirty="0" err="1"/>
              <a:t>PLoS</a:t>
            </a:r>
            <a:r>
              <a:rPr lang="en-US" sz="1600" i="1" dirty="0"/>
              <a:t> Comput. Biol. 14(2): e1005991 (2018). DOI: </a:t>
            </a:r>
            <a:r>
              <a:rPr lang="en-US" sz="1600" i="1" dirty="0">
                <a:hlinkClick r:id="rId4"/>
              </a:rPr>
              <a:t>10.1371/journal.pcbi.1005991</a:t>
            </a:r>
            <a:r>
              <a:rPr lang="en-US" sz="1600" i="1" dirty="0"/>
              <a:t>.</a:t>
            </a:r>
          </a:p>
          <a:p>
            <a:endParaRPr lang="en-US" sz="1600" dirty="0"/>
          </a:p>
          <a:p>
            <a:r>
              <a:rPr lang="en-US" sz="1600" dirty="0"/>
              <a:t>Heisenberg, CP. Stretched divisions. </a:t>
            </a:r>
            <a:r>
              <a:rPr lang="en-US" sz="1600" i="1" dirty="0"/>
              <a:t>Nature</a:t>
            </a:r>
            <a:r>
              <a:rPr lang="en-US" sz="1600" dirty="0"/>
              <a:t> </a:t>
            </a:r>
            <a:r>
              <a:rPr lang="en-US" sz="1600" b="1" dirty="0"/>
              <a:t>543</a:t>
            </a:r>
            <a:r>
              <a:rPr lang="en-US" sz="1600" dirty="0"/>
              <a:t>, 43–44 (2017). https://doi.org/10.1038/nature21502</a:t>
            </a:r>
          </a:p>
          <a:p>
            <a:endParaRPr lang="en-US" sz="1600" dirty="0"/>
          </a:p>
          <a:p>
            <a:endParaRPr lang="en-US" dirty="0">
              <a:solidFill>
                <a:srgbClr val="1B1B1B"/>
              </a:solidFill>
              <a:latin typeface="Roboto Mono Web"/>
            </a:endParaRPr>
          </a:p>
          <a:p>
            <a:endParaRPr lang="en-US" dirty="0">
              <a:solidFill>
                <a:srgbClr val="1B1B1B"/>
              </a:solidFill>
              <a:latin typeface="Roboto Mono Web"/>
            </a:endParaRPr>
          </a:p>
          <a:p>
            <a:endParaRPr lang="en-US" dirty="0">
              <a:solidFill>
                <a:srgbClr val="1B1B1B"/>
              </a:solidFill>
              <a:latin typeface="Roboto Mono Web"/>
            </a:endParaRPr>
          </a:p>
          <a:p>
            <a:endParaRPr lang="en-US" dirty="0">
              <a:solidFill>
                <a:srgbClr val="1B1B1B"/>
              </a:solidFill>
              <a:latin typeface="Roboto Mono Web"/>
            </a:endParaRPr>
          </a:p>
          <a:p>
            <a:endParaRPr lang="en-US" dirty="0">
              <a:solidFill>
                <a:srgbClr val="1B1B1B"/>
              </a:solidFill>
              <a:latin typeface="Roboto Mono Web"/>
            </a:endParaRPr>
          </a:p>
          <a:p>
            <a:endParaRPr lang="en-US" dirty="0">
              <a:solidFill>
                <a:srgbClr val="1B1B1B"/>
              </a:solidFill>
              <a:latin typeface="Roboto Mono Web"/>
            </a:endParaRPr>
          </a:p>
          <a:p>
            <a:endParaRPr lang="en-US" dirty="0">
              <a:solidFill>
                <a:srgbClr val="1B1B1B"/>
              </a:solidFill>
              <a:latin typeface="Roboto Mono Web"/>
            </a:endParaRPr>
          </a:p>
          <a:p>
            <a:endParaRPr lang="en-US" dirty="0"/>
          </a:p>
        </p:txBody>
      </p:sp>
    </p:spTree>
    <p:extLst>
      <p:ext uri="{BB962C8B-B14F-4D97-AF65-F5344CB8AC3E}">
        <p14:creationId xmlns:p14="http://schemas.microsoft.com/office/powerpoint/2010/main" val="34949212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791C8C-E35C-CFF8-4671-EDFE122C10CC}"/>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2BC40177-02AC-FF89-5F9F-AC443AED4E84}"/>
              </a:ext>
            </a:extLst>
          </p:cNvPr>
          <p:cNvSpPr>
            <a:spLocks noGrp="1"/>
          </p:cNvSpPr>
          <p:nvPr>
            <p:ph type="title"/>
          </p:nvPr>
        </p:nvSpPr>
        <p:spPr>
          <a:xfrm>
            <a:off x="457200" y="332261"/>
            <a:ext cx="7886700" cy="994172"/>
          </a:xfrm>
        </p:spPr>
        <p:txBody>
          <a:bodyPr>
            <a:noAutofit/>
          </a:bodyPr>
          <a:lstStyle/>
          <a:p>
            <a:r>
              <a:rPr lang="en-US" sz="3200" b="1" dirty="0">
                <a:solidFill>
                  <a:srgbClr val="171C8C"/>
                </a:solidFill>
                <a:latin typeface="Arial" panose="020B0604020202020204" pitchFamily="34" charset="0"/>
                <a:cs typeface="Arial" panose="020B0604020202020204" pitchFamily="34" charset="0"/>
              </a:rPr>
              <a:t>Level-Set Method</a:t>
            </a:r>
          </a:p>
        </p:txBody>
      </p:sp>
      <p:cxnSp>
        <p:nvCxnSpPr>
          <p:cNvPr id="5" name="Straight Connector 4">
            <a:extLst>
              <a:ext uri="{FF2B5EF4-FFF2-40B4-BE49-F238E27FC236}">
                <a16:creationId xmlns:a16="http://schemas.microsoft.com/office/drawing/2014/main" id="{12E570A4-B4A6-AFF9-4132-8B7DD6DF1CB1}"/>
              </a:ext>
            </a:extLst>
          </p:cNvPr>
          <p:cNvCxnSpPr/>
          <p:nvPr/>
        </p:nvCxnSpPr>
        <p:spPr>
          <a:xfrm>
            <a:off x="191528" y="1224990"/>
            <a:ext cx="8760941" cy="0"/>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A00E314-E11A-6403-392D-DB92F0C7EA2C}"/>
                  </a:ext>
                </a:extLst>
              </p:cNvPr>
              <p:cNvSpPr>
                <a:spLocks noGrp="1"/>
              </p:cNvSpPr>
              <p:nvPr>
                <p:ph idx="1"/>
              </p:nvPr>
            </p:nvSpPr>
            <p:spPr>
              <a:xfrm>
                <a:off x="457200" y="1600201"/>
                <a:ext cx="8229600" cy="779744"/>
              </a:xfrm>
            </p:spPr>
            <p:txBody>
              <a:bodyPr>
                <a:noAutofit/>
              </a:bodyPr>
              <a:lstStyle/>
              <a:p>
                <a:r>
                  <a:rPr lang="en-US" sz="2800" dirty="0"/>
                  <a:t>The ductal region </a:t>
                </a:r>
                <a:r>
                  <a:rPr lang="el-GR" sz="2800" dirty="0"/>
                  <a:t>Ω</a:t>
                </a:r>
                <a:r>
                  <a:rPr lang="en-US" sz="2800" dirty="0"/>
                  <a:t> and the basement membrane </a:t>
                </a:r>
                <a14:m>
                  <m:oMath xmlns:m="http://schemas.openxmlformats.org/officeDocument/2006/math">
                    <m:r>
                      <m:rPr>
                        <m:sty m:val="p"/>
                      </m:rPr>
                      <a:rPr lang="en-US" sz="2800" b="0" i="0" smtClean="0">
                        <a:latin typeface="Cambria Math" panose="02040503050406030204" pitchFamily="18" charset="0"/>
                      </a:rPr>
                      <m:t>Γ</m:t>
                    </m:r>
                    <m:r>
                      <a:rPr lang="en-US" sz="2800" b="0" i="1" smtClean="0">
                        <a:latin typeface="Cambria Math" panose="02040503050406030204" pitchFamily="18" charset="0"/>
                      </a:rPr>
                      <m:t>=</m:t>
                    </m:r>
                    <m:r>
                      <a:rPr lang="en-US" sz="2800" b="0" i="1" smtClean="0">
                        <a:latin typeface="Cambria Math" panose="02040503050406030204" pitchFamily="18" charset="0"/>
                      </a:rPr>
                      <m:t>𝜕</m:t>
                    </m:r>
                    <m:r>
                      <m:rPr>
                        <m:sty m:val="p"/>
                      </m:rPr>
                      <a:rPr lang="en-US" sz="2800" b="0" i="0" smtClean="0">
                        <a:latin typeface="Cambria Math" panose="02040503050406030204" pitchFamily="18" charset="0"/>
                      </a:rPr>
                      <m:t>Ω</m:t>
                    </m:r>
                  </m:oMath>
                </a14:m>
                <a:r>
                  <a:rPr lang="en-US" sz="2800" dirty="0"/>
                  <a:t> are defined implicitly by a </a:t>
                </a:r>
                <a:r>
                  <a:rPr lang="en-US" sz="2800" b="1" dirty="0">
                    <a:solidFill>
                      <a:schemeClr val="tx2"/>
                    </a:solidFill>
                  </a:rPr>
                  <a:t>signed distance function </a:t>
                </a:r>
                <a14:m>
                  <m:oMath xmlns:m="http://schemas.openxmlformats.org/officeDocument/2006/math">
                    <m:r>
                      <a:rPr lang="en-US" sz="2800" b="0" i="1" smtClean="0">
                        <a:solidFill>
                          <a:schemeClr val="tx1"/>
                        </a:solidFill>
                        <a:latin typeface="Cambria Math" panose="02040503050406030204" pitchFamily="18" charset="0"/>
                      </a:rPr>
                      <m:t>𝜙</m:t>
                    </m:r>
                  </m:oMath>
                </a14:m>
                <a:r>
                  <a:rPr lang="en-US" sz="2800" dirty="0"/>
                  <a:t>, </a:t>
                </a:r>
              </a:p>
            </p:txBody>
          </p:sp>
        </mc:Choice>
        <mc:Fallback xmlns="">
          <p:sp>
            <p:nvSpPr>
              <p:cNvPr id="3" name="Content Placeholder 2">
                <a:extLst>
                  <a:ext uri="{FF2B5EF4-FFF2-40B4-BE49-F238E27FC236}">
                    <a16:creationId xmlns:a16="http://schemas.microsoft.com/office/drawing/2014/main" id="{2A00E314-E11A-6403-392D-DB92F0C7EA2C}"/>
                  </a:ext>
                </a:extLst>
              </p:cNvPr>
              <p:cNvSpPr>
                <a:spLocks noGrp="1" noRot="1" noChangeAspect="1" noMove="1" noResize="1" noEditPoints="1" noAdjustHandles="1" noChangeArrowheads="1" noChangeShapeType="1" noTextEdit="1"/>
              </p:cNvSpPr>
              <p:nvPr>
                <p:ph idx="1"/>
              </p:nvPr>
            </p:nvSpPr>
            <p:spPr>
              <a:xfrm>
                <a:off x="457200" y="1600201"/>
                <a:ext cx="8229600" cy="779744"/>
              </a:xfrm>
              <a:blipFill>
                <a:blip r:embed="rId3"/>
                <a:stretch>
                  <a:fillRect l="-1333" t="-13386" b="-82677"/>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FCA779D4-A0F3-4DE3-A73A-4402AB863163}"/>
              </a:ext>
            </a:extLst>
          </p:cNvPr>
          <p:cNvPicPr>
            <a:picLocks noChangeAspect="1"/>
          </p:cNvPicPr>
          <p:nvPr/>
        </p:nvPicPr>
        <p:blipFill>
          <a:blip r:embed="rId4"/>
          <a:stretch>
            <a:fillRect/>
          </a:stretch>
        </p:blipFill>
        <p:spPr>
          <a:xfrm>
            <a:off x="2711521" y="2755155"/>
            <a:ext cx="3720954" cy="3273498"/>
          </a:xfrm>
          <a:prstGeom prst="rect">
            <a:avLst/>
          </a:prstGeom>
        </p:spPr>
      </p:pic>
    </p:spTree>
    <p:extLst>
      <p:ext uri="{BB962C8B-B14F-4D97-AF65-F5344CB8AC3E}">
        <p14:creationId xmlns:p14="http://schemas.microsoft.com/office/powerpoint/2010/main" val="35459124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AE0CC3-10B9-4803-B92C-4C44D10BF1C4}"/>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D2B4494E-094D-9F79-758D-DE91C973EBF6}"/>
              </a:ext>
            </a:extLst>
          </p:cNvPr>
          <p:cNvSpPr>
            <a:spLocks noGrp="1"/>
          </p:cNvSpPr>
          <p:nvPr>
            <p:ph type="title"/>
          </p:nvPr>
        </p:nvSpPr>
        <p:spPr>
          <a:xfrm>
            <a:off x="457200" y="230818"/>
            <a:ext cx="7886700" cy="994172"/>
          </a:xfrm>
        </p:spPr>
        <p:txBody>
          <a:bodyPr>
            <a:noAutofit/>
          </a:bodyPr>
          <a:lstStyle/>
          <a:p>
            <a:r>
              <a:rPr lang="en-US" sz="3200" b="1" dirty="0">
                <a:solidFill>
                  <a:srgbClr val="171C8C"/>
                </a:solidFill>
                <a:latin typeface="Arial" panose="020B0604020202020204" pitchFamily="34" charset="0"/>
                <a:cs typeface="Arial" panose="020B0604020202020204" pitchFamily="34" charset="0"/>
              </a:rPr>
              <a:t>Handling Deformations</a:t>
            </a:r>
          </a:p>
        </p:txBody>
      </p:sp>
      <p:cxnSp>
        <p:nvCxnSpPr>
          <p:cNvPr id="5" name="Straight Connector 4">
            <a:extLst>
              <a:ext uri="{FF2B5EF4-FFF2-40B4-BE49-F238E27FC236}">
                <a16:creationId xmlns:a16="http://schemas.microsoft.com/office/drawing/2014/main" id="{933F0AA9-9C4A-2AB7-DA61-3423604F6B9A}"/>
              </a:ext>
            </a:extLst>
          </p:cNvPr>
          <p:cNvCxnSpPr/>
          <p:nvPr/>
        </p:nvCxnSpPr>
        <p:spPr>
          <a:xfrm>
            <a:off x="191528" y="1224990"/>
            <a:ext cx="8760941" cy="0"/>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C571D8B-9A41-7B96-02D5-179D0CCEF570}"/>
                  </a:ext>
                </a:extLst>
              </p:cNvPr>
              <p:cNvSpPr>
                <a:spLocks noGrp="1"/>
              </p:cNvSpPr>
              <p:nvPr>
                <p:ph idx="1"/>
              </p:nvPr>
            </p:nvSpPr>
            <p:spPr>
              <a:xfrm>
                <a:off x="457200" y="1600200"/>
                <a:ext cx="8229600" cy="3325761"/>
              </a:xfrm>
            </p:spPr>
            <p:txBody>
              <a:bodyPr>
                <a:normAutofit/>
              </a:bodyPr>
              <a:lstStyle/>
              <a:p>
                <a14:m>
                  <m:oMath xmlns:m="http://schemas.openxmlformats.org/officeDocument/2006/math">
                    <m:r>
                      <a:rPr lang="en-US" sz="2400" b="0" i="1" smtClean="0">
                        <a:latin typeface="Cambria Math" panose="02040503050406030204" pitchFamily="18" charset="0"/>
                      </a:rPr>
                      <m:t>∀</m:t>
                    </m:r>
                  </m:oMath>
                </a14:m>
                <a:r>
                  <a:rPr lang="en-US" sz="2400" dirty="0"/>
                  <a:t> point </a:t>
                </a:r>
                <a14:m>
                  <m:oMath xmlns:m="http://schemas.openxmlformats.org/officeDocument/2006/math">
                    <m:r>
                      <a:rPr lang="en-US" sz="2400" b="0" i="1" smtClean="0">
                        <a:latin typeface="Cambria Math" panose="02040503050406030204" pitchFamily="18" charset="0"/>
                      </a:rPr>
                      <m:t>𝑥</m:t>
                    </m:r>
                    <m:r>
                      <a:rPr lang="en-US" sz="2400" b="0" i="1" smtClean="0">
                        <a:latin typeface="Cambria Math" panose="02040503050406030204" pitchFamily="18" charset="0"/>
                      </a:rPr>
                      <m:t>(</m:t>
                    </m:r>
                    <m:r>
                      <a:rPr lang="en-US" sz="2400" b="0" i="1" smtClean="0">
                        <a:latin typeface="Cambria Math" panose="02040503050406030204" pitchFamily="18" charset="0"/>
                      </a:rPr>
                      <m:t>𝑡</m:t>
                    </m:r>
                    <m:r>
                      <a:rPr lang="en-US" sz="2400" b="0" i="1" smtClean="0">
                        <a:latin typeface="Cambria Math" panose="02040503050406030204" pitchFamily="18" charset="0"/>
                      </a:rPr>
                      <m:t>)</m:t>
                    </m:r>
                  </m:oMath>
                </a14:m>
                <a:r>
                  <a:rPr lang="en-US" sz="2400" dirty="0"/>
                  <a:t> on </a:t>
                </a:r>
                <a14:m>
                  <m:oMath xmlns:m="http://schemas.openxmlformats.org/officeDocument/2006/math">
                    <m:r>
                      <m:rPr>
                        <m:sty m:val="p"/>
                      </m:rPr>
                      <a:rPr lang="en-US" sz="2400" b="0" i="0" smtClean="0">
                        <a:latin typeface="Cambria Math" panose="02040503050406030204" pitchFamily="18" charset="0"/>
                      </a:rPr>
                      <m:t>Γ</m:t>
                    </m:r>
                    <m:r>
                      <a:rPr lang="en-US" sz="2400" b="0" i="1" smtClean="0">
                        <a:latin typeface="Cambria Math" panose="02040503050406030204" pitchFamily="18" charset="0"/>
                      </a:rPr>
                      <m:t>, </m:t>
                    </m:r>
                    <m:r>
                      <a:rPr lang="en-US" sz="2400" b="0" i="1" smtClean="0">
                        <a:latin typeface="Cambria Math" panose="02040503050406030204" pitchFamily="18" charset="0"/>
                      </a:rPr>
                      <m:t>𝜙</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𝑥</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𝑡</m:t>
                            </m:r>
                          </m:e>
                        </m:d>
                        <m:r>
                          <a:rPr lang="en-US" sz="2400" b="0" i="1" smtClean="0">
                            <a:latin typeface="Cambria Math" panose="02040503050406030204" pitchFamily="18" charset="0"/>
                          </a:rPr>
                          <m:t>,</m:t>
                        </m:r>
                        <m:r>
                          <a:rPr lang="en-US" sz="2400" b="0" i="1" smtClean="0">
                            <a:latin typeface="Cambria Math" panose="02040503050406030204" pitchFamily="18" charset="0"/>
                          </a:rPr>
                          <m:t>𝑡</m:t>
                        </m:r>
                      </m:e>
                    </m:d>
                    <m:r>
                      <a:rPr lang="en-US" sz="2400" b="0" i="1" smtClean="0">
                        <a:latin typeface="Cambria Math" panose="02040503050406030204" pitchFamily="18" charset="0"/>
                      </a:rPr>
                      <m:t>=0 </m:t>
                    </m:r>
                  </m:oMath>
                </a14:m>
                <a:r>
                  <a:rPr lang="en-US" sz="2400" dirty="0"/>
                  <a:t>must hold for all time, i.e. </a:t>
                </a:r>
                <a14:m>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𝜕𝜙</m:t>
                        </m:r>
                      </m:num>
                      <m:den>
                        <m:r>
                          <a:rPr lang="en-US" sz="2400" b="0" i="1" smtClean="0">
                            <a:latin typeface="Cambria Math" panose="02040503050406030204" pitchFamily="18" charset="0"/>
                          </a:rPr>
                          <m:t>𝜕</m:t>
                        </m:r>
                        <m:r>
                          <a:rPr lang="en-US" sz="2400" b="0" i="1" smtClean="0">
                            <a:latin typeface="Cambria Math" panose="02040503050406030204" pitchFamily="18" charset="0"/>
                          </a:rPr>
                          <m:t>𝑡</m:t>
                        </m:r>
                      </m:den>
                    </m:f>
                    <m:r>
                      <a:rPr lang="en-US" sz="2400" b="0" i="1" smtClean="0">
                        <a:latin typeface="Cambria Math" panose="02040503050406030204" pitchFamily="18" charset="0"/>
                      </a:rPr>
                      <m:t>=0</m:t>
                    </m:r>
                  </m:oMath>
                </a14:m>
                <a:r>
                  <a:rPr lang="en-US" sz="2400" dirty="0"/>
                  <a:t>. Hence, by the </a:t>
                </a:r>
                <a:r>
                  <a:rPr lang="en-US" sz="2400" b="1" dirty="0">
                    <a:solidFill>
                      <a:schemeClr val="tx2"/>
                    </a:solidFill>
                  </a:rPr>
                  <a:t>multi-variable chain rule</a:t>
                </a:r>
                <a:r>
                  <a:rPr lang="en-US" sz="2400" dirty="0"/>
                  <a:t>,</a:t>
                </a:r>
              </a:p>
              <a:p>
                <a:pPr marL="0" indent="0">
                  <a:buNone/>
                </a:pPr>
                <a:endParaRPr lang="en-US" sz="2400" dirty="0"/>
              </a:p>
              <a:p>
                <a:pPr marL="0" indent="0">
                  <a:buNone/>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𝑑</m:t>
                          </m:r>
                          <m:r>
                            <a:rPr lang="en-US" sz="2400" b="0" i="1" smtClean="0">
                              <a:latin typeface="Cambria Math" panose="02040503050406030204" pitchFamily="18" charset="0"/>
                            </a:rPr>
                            <m:t>𝜙</m:t>
                          </m:r>
                        </m:num>
                        <m:den>
                          <m:r>
                            <a:rPr lang="en-US" sz="2400" b="0" i="1" smtClean="0">
                              <a:latin typeface="Cambria Math" panose="02040503050406030204" pitchFamily="18" charset="0"/>
                            </a:rPr>
                            <m:t>𝑑𝑡</m:t>
                          </m:r>
                        </m:den>
                      </m:f>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𝜕𝜙</m:t>
                          </m:r>
                        </m:num>
                        <m:den>
                          <m:r>
                            <a:rPr lang="en-US" sz="2400" b="0" i="1" smtClean="0">
                              <a:latin typeface="Cambria Math" panose="02040503050406030204" pitchFamily="18" charset="0"/>
                            </a:rPr>
                            <m:t>𝜕</m:t>
                          </m:r>
                          <m:r>
                            <a:rPr lang="en-US" sz="2400" b="0" i="1" smtClean="0">
                              <a:latin typeface="Cambria Math" panose="02040503050406030204" pitchFamily="18" charset="0"/>
                            </a:rPr>
                            <m:t>𝑡</m:t>
                          </m:r>
                        </m:den>
                      </m:f>
                      <m:r>
                        <a:rPr lang="en-US" sz="2400" b="0" i="1" smtClean="0">
                          <a:latin typeface="Cambria Math" panose="02040503050406030204" pitchFamily="18" charset="0"/>
                        </a:rPr>
                        <m:t>+</m:t>
                      </m:r>
                      <m:r>
                        <m:rPr>
                          <m:sty m:val="p"/>
                        </m:rPr>
                        <a:rPr lang="en-US" sz="2400" b="0" i="0" smtClean="0">
                          <a:latin typeface="Cambria Math" panose="02040503050406030204" pitchFamily="18" charset="0"/>
                        </a:rPr>
                        <m:t>∇</m:t>
                      </m:r>
                      <m:r>
                        <a:rPr lang="en-US" sz="2400" b="0" i="1" smtClean="0">
                          <a:latin typeface="Cambria Math" panose="02040503050406030204" pitchFamily="18" charset="0"/>
                        </a:rPr>
                        <m:t>𝜙</m:t>
                      </m:r>
                      <m:r>
                        <a:rPr lang="en-US" sz="2400" b="0" i="1" smtClean="0">
                          <a:latin typeface="Cambria Math" panose="02040503050406030204" pitchFamily="18" charset="0"/>
                        </a:rPr>
                        <m:t> ⋅</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𝑑𝑥</m:t>
                          </m:r>
                        </m:num>
                        <m:den>
                          <m:r>
                            <a:rPr lang="en-US" sz="2400" b="0" i="1" smtClean="0">
                              <a:latin typeface="Cambria Math" panose="02040503050406030204" pitchFamily="18" charset="0"/>
                            </a:rPr>
                            <m:t>𝑑𝑡</m:t>
                          </m:r>
                        </m:den>
                      </m:f>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𝜕𝜙</m:t>
                          </m:r>
                        </m:num>
                        <m:den>
                          <m:r>
                            <a:rPr lang="en-US" sz="2400" b="0" i="1" smtClean="0">
                              <a:latin typeface="Cambria Math" panose="02040503050406030204" pitchFamily="18" charset="0"/>
                            </a:rPr>
                            <m:t>𝜕</m:t>
                          </m:r>
                          <m:r>
                            <a:rPr lang="en-US" sz="2400" b="0" i="1" smtClean="0">
                              <a:latin typeface="Cambria Math" panose="02040503050406030204" pitchFamily="18" charset="0"/>
                            </a:rPr>
                            <m:t>𝑡</m:t>
                          </m:r>
                        </m:den>
                      </m:f>
                      <m:r>
                        <a:rPr lang="en-US" sz="2400" b="0" i="1" smtClean="0">
                          <a:latin typeface="Cambria Math" panose="02040503050406030204" pitchFamily="18" charset="0"/>
                        </a:rPr>
                        <m:t>+</m:t>
                      </m:r>
                      <m:r>
                        <m:rPr>
                          <m:sty m:val="p"/>
                        </m:rPr>
                        <a:rPr lang="en-US" sz="2400" b="0" i="0" smtClean="0">
                          <a:latin typeface="Cambria Math" panose="02040503050406030204" pitchFamily="18" charset="0"/>
                        </a:rPr>
                        <m:t>∇</m:t>
                      </m:r>
                      <m:r>
                        <a:rPr lang="en-US" sz="2400" b="0" i="1" smtClean="0">
                          <a:latin typeface="Cambria Math" panose="02040503050406030204" pitchFamily="18" charset="0"/>
                        </a:rPr>
                        <m:t>𝜙</m:t>
                      </m:r>
                      <m:r>
                        <a:rPr lang="en-US" sz="2400" b="0" i="1" smtClean="0">
                          <a:latin typeface="Cambria Math" panose="02040503050406030204" pitchFamily="18" charset="0"/>
                        </a:rPr>
                        <m:t>⋅</m:t>
                      </m:r>
                      <m:r>
                        <a:rPr lang="en-US" sz="2400" b="0" i="1" smtClean="0">
                          <a:latin typeface="Cambria Math" panose="02040503050406030204" pitchFamily="18" charset="0"/>
                        </a:rPr>
                        <m:t>𝑉</m:t>
                      </m:r>
                    </m:oMath>
                  </m:oMathPara>
                </a14:m>
                <a:endParaRPr lang="en-US" sz="2400" b="0" dirty="0"/>
              </a:p>
              <a:p>
                <a:pPr marL="0" indent="0">
                  <a:buNone/>
                </a:pPr>
                <a:r>
                  <a:rPr lang="en-US" sz="2400" dirty="0"/>
                  <a:t>Let </a:t>
                </a:r>
                <a14:m>
                  <m:oMath xmlns:m="http://schemas.openxmlformats.org/officeDocument/2006/math">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𝑉</m:t>
                        </m:r>
                      </m:e>
                    </m:acc>
                    <m:r>
                      <a:rPr lang="en-US" sz="2400" b="0" i="1" smtClean="0">
                        <a:latin typeface="Cambria Math" panose="02040503050406030204" pitchFamily="18" charset="0"/>
                      </a:rPr>
                      <m:t>=</m:t>
                    </m:r>
                    <m:r>
                      <a:rPr lang="en-US" sz="2400" b="0" i="1" smtClean="0">
                        <a:latin typeface="Cambria Math" panose="02040503050406030204" pitchFamily="18" charset="0"/>
                      </a:rPr>
                      <m:t>𝑉</m:t>
                    </m:r>
                    <m:r>
                      <a:rPr lang="en-US" sz="2400" b="0" i="1" smtClean="0">
                        <a:latin typeface="Cambria Math" panose="02040503050406030204" pitchFamily="18" charset="0"/>
                      </a:rPr>
                      <m:t>⋅</m:t>
                    </m:r>
                    <m:r>
                      <a:rPr lang="en-US" sz="2400" b="0" i="1" smtClean="0">
                        <a:latin typeface="Cambria Math" panose="02040503050406030204" pitchFamily="18" charset="0"/>
                      </a:rPr>
                      <m:t>𝑛</m:t>
                    </m:r>
                    <m:r>
                      <a:rPr lang="en-US" sz="2400" b="0" i="0" smtClean="0">
                        <a:latin typeface="Cambria Math" panose="02040503050406030204" pitchFamily="18" charset="0"/>
                      </a:rPr>
                      <m:t>, </m:t>
                    </m:r>
                  </m:oMath>
                </a14:m>
                <a:r>
                  <a:rPr lang="en-US" sz="2400" dirty="0"/>
                  <a:t>where n is the unit normal vector </a:t>
                </a:r>
                <a14:m>
                  <m:oMath xmlns:m="http://schemas.openxmlformats.org/officeDocument/2006/math">
                    <m:f>
                      <m:fPr>
                        <m:ctrlPr>
                          <a:rPr lang="en-US" sz="2400" b="0" i="1" smtClean="0">
                            <a:latin typeface="Cambria Math" panose="02040503050406030204" pitchFamily="18" charset="0"/>
                          </a:rPr>
                        </m:ctrlPr>
                      </m:fPr>
                      <m:num>
                        <m:r>
                          <m:rPr>
                            <m:sty m:val="p"/>
                          </m:rPr>
                          <a:rPr lang="en-US" sz="2400" b="0" i="0" smtClean="0">
                            <a:latin typeface="Cambria Math" panose="02040503050406030204" pitchFamily="18" charset="0"/>
                          </a:rPr>
                          <m:t>∇</m:t>
                        </m:r>
                        <m:r>
                          <a:rPr lang="en-US" sz="2400" b="0" i="1" smtClean="0">
                            <a:latin typeface="Cambria Math" panose="02040503050406030204" pitchFamily="18" charset="0"/>
                          </a:rPr>
                          <m:t>𝜙</m:t>
                        </m:r>
                      </m:num>
                      <m:den>
                        <m:d>
                          <m:dPr>
                            <m:begChr m:val="|"/>
                            <m:endChr m:val="|"/>
                            <m:ctrlPr>
                              <a:rPr lang="en-US" sz="2400" b="0" i="1" smtClean="0">
                                <a:latin typeface="Cambria Math" panose="02040503050406030204" pitchFamily="18" charset="0"/>
                              </a:rPr>
                            </m:ctrlPr>
                          </m:dPr>
                          <m:e>
                            <m:r>
                              <m:rPr>
                                <m:sty m:val="p"/>
                              </m:rPr>
                              <a:rPr lang="en-US" sz="2400" b="0" i="0" smtClean="0">
                                <a:latin typeface="Cambria Math" panose="02040503050406030204" pitchFamily="18" charset="0"/>
                              </a:rPr>
                              <m:t>∇</m:t>
                            </m:r>
                            <m:r>
                              <a:rPr lang="en-US" sz="2400" b="0" i="1" smtClean="0">
                                <a:latin typeface="Cambria Math" panose="02040503050406030204" pitchFamily="18" charset="0"/>
                              </a:rPr>
                              <m:t>𝜙</m:t>
                            </m:r>
                          </m:e>
                        </m:d>
                      </m:den>
                    </m:f>
                  </m:oMath>
                </a14:m>
                <a:r>
                  <a:rPr lang="en-US" sz="2400" dirty="0"/>
                  <a:t>. Then, </a:t>
                </a:r>
              </a:p>
            </p:txBody>
          </p:sp>
        </mc:Choice>
        <mc:Fallback xmlns="">
          <p:sp>
            <p:nvSpPr>
              <p:cNvPr id="3" name="Content Placeholder 2">
                <a:extLst>
                  <a:ext uri="{FF2B5EF4-FFF2-40B4-BE49-F238E27FC236}">
                    <a16:creationId xmlns:a16="http://schemas.microsoft.com/office/drawing/2014/main" id="{EC571D8B-9A41-7B96-02D5-179D0CCEF570}"/>
                  </a:ext>
                </a:extLst>
              </p:cNvPr>
              <p:cNvSpPr>
                <a:spLocks noGrp="1" noRot="1" noChangeAspect="1" noMove="1" noResize="1" noEditPoints="1" noAdjustHandles="1" noChangeArrowheads="1" noChangeShapeType="1" noTextEdit="1"/>
              </p:cNvSpPr>
              <p:nvPr>
                <p:ph idx="1"/>
              </p:nvPr>
            </p:nvSpPr>
            <p:spPr>
              <a:xfrm>
                <a:off x="457200" y="1600200"/>
                <a:ext cx="8229600" cy="3325761"/>
              </a:xfrm>
              <a:blipFill>
                <a:blip r:embed="rId3"/>
                <a:stretch>
                  <a:fillRect l="-1111" t="-256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C0385D43-4DBC-B3A2-7724-0516303AFBE9}"/>
                  </a:ext>
                </a:extLst>
              </p:cNvPr>
              <p:cNvSpPr/>
              <p:nvPr/>
            </p:nvSpPr>
            <p:spPr>
              <a:xfrm>
                <a:off x="2993920" y="4379411"/>
                <a:ext cx="3156155" cy="1253599"/>
              </a:xfrm>
              <a:prstGeom prst="rect">
                <a:avLst/>
              </a:prstGeom>
              <a:solidFill>
                <a:schemeClr val="tx2">
                  <a:lumMod val="40000"/>
                  <a:lumOff val="60000"/>
                </a:schemeClr>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smtClean="0">
                          <a:solidFill>
                            <a:schemeClr val="tx1"/>
                          </a:solidFill>
                          <a:latin typeface="Cambria Math" panose="02040503050406030204" pitchFamily="18" charset="0"/>
                        </a:rPr>
                        <m:t>=</m:t>
                      </m:r>
                      <m:f>
                        <m:fPr>
                          <m:ctrlPr>
                            <a:rPr lang="en-US" sz="2800" i="1">
                              <a:solidFill>
                                <a:schemeClr val="tx1"/>
                              </a:solidFill>
                              <a:latin typeface="Cambria Math" panose="02040503050406030204" pitchFamily="18" charset="0"/>
                            </a:rPr>
                          </m:ctrlPr>
                        </m:fPr>
                        <m:num>
                          <m:r>
                            <a:rPr lang="en-US" sz="2800" i="1">
                              <a:solidFill>
                                <a:schemeClr val="tx1"/>
                              </a:solidFill>
                              <a:latin typeface="Cambria Math" panose="02040503050406030204" pitchFamily="18" charset="0"/>
                            </a:rPr>
                            <m:t>𝜕𝜙</m:t>
                          </m:r>
                        </m:num>
                        <m:den>
                          <m:r>
                            <a:rPr lang="en-US" sz="2800" i="1">
                              <a:solidFill>
                                <a:schemeClr val="tx1"/>
                              </a:solidFill>
                              <a:latin typeface="Cambria Math" panose="02040503050406030204" pitchFamily="18" charset="0"/>
                            </a:rPr>
                            <m:t>𝜕</m:t>
                          </m:r>
                          <m:r>
                            <a:rPr lang="en-US" sz="2800" i="1">
                              <a:solidFill>
                                <a:schemeClr val="tx1"/>
                              </a:solidFill>
                              <a:latin typeface="Cambria Math" panose="02040503050406030204" pitchFamily="18" charset="0"/>
                            </a:rPr>
                            <m:t>𝑡</m:t>
                          </m:r>
                        </m:den>
                      </m:f>
                      <m:r>
                        <a:rPr lang="en-US" sz="2800" i="1">
                          <a:solidFill>
                            <a:schemeClr val="tx1"/>
                          </a:solidFill>
                          <a:latin typeface="Cambria Math" panose="02040503050406030204" pitchFamily="18" charset="0"/>
                        </a:rPr>
                        <m:t>+</m:t>
                      </m:r>
                      <m:acc>
                        <m:accPr>
                          <m:chr m:val="̃"/>
                          <m:ctrlPr>
                            <a:rPr lang="en-US" sz="2800" i="1">
                              <a:solidFill>
                                <a:schemeClr val="tx1"/>
                              </a:solidFill>
                              <a:latin typeface="Cambria Math" panose="02040503050406030204" pitchFamily="18" charset="0"/>
                            </a:rPr>
                          </m:ctrlPr>
                        </m:accPr>
                        <m:e>
                          <m:r>
                            <a:rPr lang="en-US" sz="2800" i="1">
                              <a:solidFill>
                                <a:schemeClr val="tx1"/>
                              </a:solidFill>
                              <a:latin typeface="Cambria Math" panose="02040503050406030204" pitchFamily="18" charset="0"/>
                            </a:rPr>
                            <m:t>𝑉</m:t>
                          </m:r>
                        </m:e>
                      </m:acc>
                      <m:d>
                        <m:dPr>
                          <m:begChr m:val="|"/>
                          <m:endChr m:val="|"/>
                          <m:ctrlPr>
                            <a:rPr lang="en-US" sz="2800" i="1">
                              <a:solidFill>
                                <a:schemeClr val="tx1"/>
                              </a:solidFill>
                              <a:latin typeface="Cambria Math" panose="02040503050406030204" pitchFamily="18" charset="0"/>
                            </a:rPr>
                          </m:ctrlPr>
                        </m:dPr>
                        <m:e>
                          <m:r>
                            <m:rPr>
                              <m:sty m:val="p"/>
                            </m:rPr>
                            <a:rPr lang="en-US" sz="2800">
                              <a:solidFill>
                                <a:schemeClr val="tx1"/>
                              </a:solidFill>
                              <a:latin typeface="Cambria Math" panose="02040503050406030204" pitchFamily="18" charset="0"/>
                            </a:rPr>
                            <m:t>∇</m:t>
                          </m:r>
                          <m:r>
                            <a:rPr lang="en-US" sz="2800" i="1">
                              <a:solidFill>
                                <a:schemeClr val="tx1"/>
                              </a:solidFill>
                              <a:latin typeface="Cambria Math" panose="02040503050406030204" pitchFamily="18" charset="0"/>
                            </a:rPr>
                            <m:t>𝜙</m:t>
                          </m:r>
                        </m:e>
                      </m:d>
                      <m:r>
                        <a:rPr lang="en-US" sz="2800" i="1">
                          <a:solidFill>
                            <a:schemeClr val="tx1"/>
                          </a:solidFill>
                          <a:latin typeface="Cambria Math" panose="02040503050406030204" pitchFamily="18" charset="0"/>
                        </a:rPr>
                        <m:t>=0</m:t>
                      </m:r>
                    </m:oMath>
                  </m:oMathPara>
                </a14:m>
                <a:endParaRPr lang="en-US" sz="2800" dirty="0">
                  <a:solidFill>
                    <a:schemeClr val="tx1"/>
                  </a:solidFill>
                </a:endParaRPr>
              </a:p>
              <a:p>
                <a:pPr algn="ctr"/>
                <a:endParaRPr lang="en-US" dirty="0"/>
              </a:p>
            </p:txBody>
          </p:sp>
        </mc:Choice>
        <mc:Fallback xmlns="">
          <p:sp>
            <p:nvSpPr>
              <p:cNvPr id="2" name="Rectangle 1">
                <a:extLst>
                  <a:ext uri="{FF2B5EF4-FFF2-40B4-BE49-F238E27FC236}">
                    <a16:creationId xmlns:a16="http://schemas.microsoft.com/office/drawing/2014/main" id="{C0385D43-4DBC-B3A2-7724-0516303AFBE9}"/>
                  </a:ext>
                </a:extLst>
              </p:cNvPr>
              <p:cNvSpPr>
                <a:spLocks noRot="1" noChangeAspect="1" noMove="1" noResize="1" noEditPoints="1" noAdjustHandles="1" noChangeArrowheads="1" noChangeShapeType="1" noTextEdit="1"/>
              </p:cNvSpPr>
              <p:nvPr/>
            </p:nvSpPr>
            <p:spPr>
              <a:xfrm>
                <a:off x="2993920" y="4379411"/>
                <a:ext cx="3156155" cy="1253599"/>
              </a:xfrm>
              <a:prstGeom prst="rect">
                <a:avLst/>
              </a:prstGeom>
              <a:blipFill>
                <a:blip r:embed="rId4"/>
                <a:stretch>
                  <a:fillRect/>
                </a:stretch>
              </a:blipFill>
              <a:effectLst>
                <a:outerShdw blurRad="50800" dist="38100" dir="2700000" algn="tl" rotWithShape="0">
                  <a:prstClr val="black">
                    <a:alpha val="40000"/>
                  </a:prstClr>
                </a:outerShdw>
              </a:effectLst>
            </p:spPr>
            <p:txBody>
              <a:bodyPr/>
              <a:lstStyle/>
              <a:p>
                <a:r>
                  <a:rPr lang="en-US">
                    <a:noFill/>
                  </a:rPr>
                  <a:t> </a:t>
                </a:r>
              </a:p>
            </p:txBody>
          </p:sp>
        </mc:Fallback>
      </mc:AlternateContent>
    </p:spTree>
    <p:extLst>
      <p:ext uri="{BB962C8B-B14F-4D97-AF65-F5344CB8AC3E}">
        <p14:creationId xmlns:p14="http://schemas.microsoft.com/office/powerpoint/2010/main" val="1901920553"/>
      </p:ext>
    </p:extLst>
  </p:cSld>
  <p:clrMapOvr>
    <a:masterClrMapping/>
  </p:clrMapOvr>
</p:sld>
</file>

<file path=ppt/theme/theme1.xml><?xml version="1.0" encoding="utf-8"?>
<a:theme xmlns:a="http://schemas.openxmlformats.org/drawingml/2006/main" name="SOM Theme 1">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OM Theme 3">
  <a:themeElements>
    <a:clrScheme name="UMB Colors">
      <a:dk1>
        <a:srgbClr val="000000"/>
      </a:dk1>
      <a:lt1>
        <a:srgbClr val="FFFFFF"/>
      </a:lt1>
      <a:dk2>
        <a:srgbClr val="D81F37"/>
      </a:dk2>
      <a:lt2>
        <a:srgbClr val="95A1A9"/>
      </a:lt2>
      <a:accent1>
        <a:srgbClr val="D81F37"/>
      </a:accent1>
      <a:accent2>
        <a:srgbClr val="FED430"/>
      </a:accent2>
      <a:accent3>
        <a:srgbClr val="717375"/>
      </a:accent3>
      <a:accent4>
        <a:srgbClr val="107796"/>
      </a:accent4>
      <a:accent5>
        <a:srgbClr val="5F87A0"/>
      </a:accent5>
      <a:accent6>
        <a:srgbClr val="B4CB97"/>
      </a:accent6>
      <a:hlink>
        <a:srgbClr val="C7B08D"/>
      </a:hlink>
      <a:folHlink>
        <a:srgbClr val="6E4C53"/>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717009a6-20de-461a-8894-0312a395cac9}" enabled="0" method="" siteId="{717009a6-20de-461a-8894-0312a395cac9}" removed="1"/>
</clbl:labelList>
</file>

<file path=docProps/app.xml><?xml version="1.0" encoding="utf-8"?>
<Properties xmlns="http://schemas.openxmlformats.org/officeDocument/2006/extended-properties" xmlns:vt="http://schemas.openxmlformats.org/officeDocument/2006/docPropsVTypes">
  <Template>Office Theme</Template>
  <TotalTime>35469</TotalTime>
  <Words>5878</Words>
  <Application>Microsoft Macintosh PowerPoint</Application>
  <PresentationFormat>On-screen Show (4:3)</PresentationFormat>
  <Paragraphs>326</Paragraphs>
  <Slides>27</Slides>
  <Notes>25</Notes>
  <HiddenSlides>0</HiddenSlides>
  <MMClips>10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27</vt:i4>
      </vt:variant>
    </vt:vector>
  </HeadingPairs>
  <TitlesOfParts>
    <vt:vector size="36" baseType="lpstr">
      <vt:lpstr>Aptos</vt:lpstr>
      <vt:lpstr>Arial</vt:lpstr>
      <vt:lpstr>Calibri</vt:lpstr>
      <vt:lpstr>Calibri Light</vt:lpstr>
      <vt:lpstr>Cambria Math</vt:lpstr>
      <vt:lpstr>Helvetica</vt:lpstr>
      <vt:lpstr>Roboto Mono Web</vt:lpstr>
      <vt:lpstr>SOM Theme 1</vt:lpstr>
      <vt:lpstr>SOM Theme 3</vt:lpstr>
      <vt:lpstr>Agent-Based Modeling of the Ductal Structure in Pancreatic Precancer</vt:lpstr>
      <vt:lpstr>Project Goal: Model Ductal Structure</vt:lpstr>
      <vt:lpstr>Modeling</vt:lpstr>
      <vt:lpstr>Model Mechanics</vt:lpstr>
      <vt:lpstr>Baseline: Epithelial Proliferation</vt:lpstr>
      <vt:lpstr>Baseline: Epithelial Proliferation</vt:lpstr>
      <vt:lpstr>Prototype: Short Term</vt:lpstr>
      <vt:lpstr>Prototype: Long Term</vt:lpstr>
      <vt:lpstr>Where We Are Heading </vt:lpstr>
      <vt:lpstr>Background: Cell Pulling Force</vt:lpstr>
      <vt:lpstr>Cell Pulling Force</vt:lpstr>
      <vt:lpstr>Background: BM Pulling Force</vt:lpstr>
      <vt:lpstr>Gaussian Kernel</vt:lpstr>
      <vt:lpstr>Repulsive Force</vt:lpstr>
      <vt:lpstr>Epithelial Cell Division</vt:lpstr>
      <vt:lpstr>Parallel Cell Division: Stretching</vt:lpstr>
      <vt:lpstr>Parallel Cell Division: Crowding </vt:lpstr>
      <vt:lpstr>Malignant Cell Simulation</vt:lpstr>
      <vt:lpstr>Malignant Cell Simulation</vt:lpstr>
      <vt:lpstr>Full Test 1:</vt:lpstr>
      <vt:lpstr>Future Work: Discussion</vt:lpstr>
      <vt:lpstr>Acknowledgements</vt:lpstr>
      <vt:lpstr>PowerPoint Presentation</vt:lpstr>
      <vt:lpstr>Citations</vt:lpstr>
      <vt:lpstr>Citations</vt:lpstr>
      <vt:lpstr>Level-Set Method</vt:lpstr>
      <vt:lpstr>Handling Deformations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Johnson, Jeanette</dc:creator>
  <cp:lastModifiedBy>Cameron Yeagle</cp:lastModifiedBy>
  <cp:revision>21</cp:revision>
  <dcterms:created xsi:type="dcterms:W3CDTF">2025-05-22T20:08:09Z</dcterms:created>
  <dcterms:modified xsi:type="dcterms:W3CDTF">2026-03-19T21:15:01Z</dcterms:modified>
</cp:coreProperties>
</file>